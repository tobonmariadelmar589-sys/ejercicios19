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9" d="100"/>
          <a:sy n="129" d="100"/>
        </p:scale>
        <p:origin x="1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80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016"/>
        </a:solidFill>
        <a:effectLst/>
      </p:bgPr>
    </p:bg>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5C1A30"/>
          </a:solidFill>
          <a:ln/>
        </p:spPr>
      </p:sp>
      <p:sp>
        <p:nvSpPr>
          <p:cNvPr id="3" name="Shape 1"/>
          <p:cNvSpPr/>
          <p:nvPr/>
        </p:nvSpPr>
        <p:spPr>
          <a:xfrm>
            <a:off x="5669280" y="0"/>
            <a:ext cx="54864" cy="5143500"/>
          </a:xfrm>
          <a:prstGeom prst="rect">
            <a:avLst/>
          </a:prstGeom>
          <a:solidFill>
            <a:srgbClr val="B8952A"/>
          </a:solidFill>
          <a:ln/>
        </p:spPr>
      </p:sp>
      <p:sp>
        <p:nvSpPr>
          <p:cNvPr id="4" name="Shape 2"/>
          <p:cNvSpPr/>
          <p:nvPr/>
        </p:nvSpPr>
        <p:spPr>
          <a:xfrm>
            <a:off x="0" y="0"/>
            <a:ext cx="5669280" cy="73152"/>
          </a:xfrm>
          <a:prstGeom prst="rect">
            <a:avLst/>
          </a:prstGeom>
          <a:solidFill>
            <a:srgbClr val="B8952A"/>
          </a:solidFill>
          <a:ln/>
        </p:spPr>
      </p:sp>
      <p:sp>
        <p:nvSpPr>
          <p:cNvPr id="5" name="Shape 3"/>
          <p:cNvSpPr/>
          <p:nvPr/>
        </p:nvSpPr>
        <p:spPr>
          <a:xfrm>
            <a:off x="6583680" y="274320"/>
            <a:ext cx="2011680" cy="2011680"/>
          </a:xfrm>
          <a:prstGeom prst="ellipse">
            <a:avLst/>
          </a:prstGeom>
          <a:solidFill>
            <a:srgbClr val="8B2942">
              <a:alpha val="30000"/>
            </a:srgbClr>
          </a:solidFill>
          <a:ln w="12700">
            <a:solidFill>
              <a:srgbClr val="B8952A"/>
            </a:solidFill>
            <a:prstDash val="solid"/>
          </a:ln>
        </p:spPr>
      </p:sp>
      <p:sp>
        <p:nvSpPr>
          <p:cNvPr id="6" name="Shape 4"/>
          <p:cNvSpPr/>
          <p:nvPr/>
        </p:nvSpPr>
        <p:spPr>
          <a:xfrm>
            <a:off x="7589520" y="3474720"/>
            <a:ext cx="1188720" cy="1188720"/>
          </a:xfrm>
          <a:prstGeom prst="ellipse">
            <a:avLst/>
          </a:prstGeom>
          <a:solidFill>
            <a:srgbClr val="B8952A">
              <a:alpha val="22000"/>
            </a:srgbClr>
          </a:solidFill>
          <a:ln w="12700">
            <a:solidFill>
              <a:srgbClr val="D4AF37"/>
            </a:solidFill>
            <a:prstDash val="solid"/>
          </a:ln>
        </p:spPr>
      </p:sp>
      <p:sp>
        <p:nvSpPr>
          <p:cNvPr id="7" name="Text 5"/>
          <p:cNvSpPr/>
          <p:nvPr/>
        </p:nvSpPr>
        <p:spPr>
          <a:xfrm>
            <a:off x="502920" y="411480"/>
            <a:ext cx="822960" cy="685800"/>
          </a:xfrm>
          <a:prstGeom prst="rect">
            <a:avLst/>
          </a:prstGeom>
          <a:noFill/>
          <a:ln/>
        </p:spPr>
        <p:txBody>
          <a:bodyPr wrap="square" lIns="0" tIns="0" rIns="0" bIns="0" rtlCol="0" anchor="ctr"/>
          <a:lstStyle/>
          <a:p>
            <a:pPr marL="0" indent="0">
              <a:buNone/>
            </a:pPr>
            <a:r>
              <a:rPr lang="en-US" sz="3200" dirty="0">
                <a:solidFill>
                  <a:srgbClr val="000000"/>
                </a:solidFill>
              </a:rPr>
              <a:t>⚖️</a:t>
            </a:r>
            <a:endParaRPr lang="en-US" sz="3200" dirty="0"/>
          </a:p>
        </p:txBody>
      </p:sp>
      <p:sp>
        <p:nvSpPr>
          <p:cNvPr id="8" name="Text 6"/>
          <p:cNvSpPr/>
          <p:nvPr/>
        </p:nvSpPr>
        <p:spPr>
          <a:xfrm>
            <a:off x="502920" y="1051560"/>
            <a:ext cx="4983480" cy="960120"/>
          </a:xfrm>
          <a:prstGeom prst="rect">
            <a:avLst/>
          </a:prstGeom>
          <a:noFill/>
          <a:ln/>
        </p:spPr>
        <p:txBody>
          <a:bodyPr wrap="square" lIns="0" tIns="0" rIns="0" bIns="0" rtlCol="0" anchor="ctr"/>
          <a:lstStyle/>
          <a:p>
            <a:pPr marL="0" indent="0">
              <a:buNone/>
            </a:pPr>
            <a:r>
              <a:rPr lang="en-US" sz="5000" b="1" dirty="0">
                <a:solidFill>
                  <a:srgbClr val="FFFFFF"/>
                </a:solidFill>
                <a:latin typeface="Georgia" pitchFamily="34" charset="0"/>
                <a:ea typeface="Georgia" pitchFamily="34" charset="-122"/>
                <a:cs typeface="Georgia" pitchFamily="34" charset="-120"/>
              </a:rPr>
              <a:t>LawFirm</a:t>
            </a:r>
            <a:endParaRPr lang="en-US" sz="5000" dirty="0"/>
          </a:p>
        </p:txBody>
      </p:sp>
      <p:sp>
        <p:nvSpPr>
          <p:cNvPr id="9" name="Text 7"/>
          <p:cNvSpPr/>
          <p:nvPr/>
        </p:nvSpPr>
        <p:spPr>
          <a:xfrm>
            <a:off x="502920" y="2084832"/>
            <a:ext cx="4983480" cy="749808"/>
          </a:xfrm>
          <a:prstGeom prst="rect">
            <a:avLst/>
          </a:prstGeom>
          <a:noFill/>
          <a:ln/>
        </p:spPr>
        <p:txBody>
          <a:bodyPr wrap="square" rtlCol="0" anchor="ctr"/>
          <a:lstStyle/>
          <a:p>
            <a:pPr marL="0" indent="0">
              <a:buNone/>
            </a:pPr>
            <a:r>
              <a:rPr lang="en-US" sz="1600" i="1" dirty="0">
                <a:solidFill>
                  <a:srgbClr val="D4AF37"/>
                </a:solidFill>
                <a:latin typeface="Calibri" pitchFamily="34" charset="0"/>
                <a:ea typeface="Calibri" pitchFamily="34" charset="-122"/>
                <a:cs typeface="Calibri" pitchFamily="34" charset="-120"/>
              </a:rPr>
              <a:t>Sistema de Gestión para</a:t>
            </a:r>
            <a:endParaRPr lang="en-US" sz="1600" dirty="0"/>
          </a:p>
          <a:p>
            <a:pPr marL="0" indent="0">
              <a:buNone/>
            </a:pPr>
            <a:r>
              <a:rPr lang="en-US" sz="1600" i="1" dirty="0">
                <a:solidFill>
                  <a:srgbClr val="D4AF37"/>
                </a:solidFill>
                <a:latin typeface="Calibri" pitchFamily="34" charset="0"/>
                <a:ea typeface="Calibri" pitchFamily="34" charset="-122"/>
                <a:cs typeface="Calibri" pitchFamily="34" charset="-120"/>
              </a:rPr>
              <a:t>Servicios Legales</a:t>
            </a:r>
            <a:endParaRPr lang="en-US" sz="1600" dirty="0"/>
          </a:p>
        </p:txBody>
      </p:sp>
      <p:sp>
        <p:nvSpPr>
          <p:cNvPr id="10" name="Shape 8"/>
          <p:cNvSpPr/>
          <p:nvPr/>
        </p:nvSpPr>
        <p:spPr>
          <a:xfrm>
            <a:off x="502920" y="2944368"/>
            <a:ext cx="3200400" cy="45720"/>
          </a:xfrm>
          <a:prstGeom prst="rect">
            <a:avLst/>
          </a:prstGeom>
          <a:solidFill>
            <a:srgbClr val="B8952A"/>
          </a:solidFill>
          <a:ln/>
        </p:spPr>
      </p:sp>
      <p:sp>
        <p:nvSpPr>
          <p:cNvPr id="11" name="Text 9"/>
          <p:cNvSpPr/>
          <p:nvPr/>
        </p:nvSpPr>
        <p:spPr>
          <a:xfrm>
            <a:off x="502920" y="3063240"/>
            <a:ext cx="4983480" cy="365760"/>
          </a:xfrm>
          <a:prstGeom prst="rect">
            <a:avLst/>
          </a:prstGeom>
          <a:noFill/>
          <a:ln/>
        </p:spPr>
        <p:txBody>
          <a:bodyPr wrap="square" rtlCol="0" anchor="ctr"/>
          <a:lstStyle/>
          <a:p>
            <a:pPr marL="0" indent="0">
              <a:buNone/>
            </a:pPr>
            <a:r>
              <a:rPr lang="en-US" sz="1400" dirty="0">
                <a:solidFill>
                  <a:srgbClr val="9E8E7E"/>
                </a:solidFill>
                <a:latin typeface="Calibri" pitchFamily="34" charset="0"/>
                <a:ea typeface="Calibri" pitchFamily="34" charset="-122"/>
                <a:cs typeface="Calibri" pitchFamily="34" charset="-120"/>
              </a:rPr>
              <a:t>Justicia &amp; Asociados</a:t>
            </a:r>
            <a:endParaRPr lang="en-US" sz="1400" dirty="0"/>
          </a:p>
        </p:txBody>
      </p:sp>
      <p:sp>
        <p:nvSpPr>
          <p:cNvPr id="12" name="Text 10"/>
          <p:cNvSpPr/>
          <p:nvPr/>
        </p:nvSpPr>
        <p:spPr>
          <a:xfrm>
            <a:off x="5943600" y="1874520"/>
            <a:ext cx="3017520" cy="274320"/>
          </a:xfrm>
          <a:prstGeom prst="rect">
            <a:avLst/>
          </a:prstGeom>
          <a:noFill/>
          <a:ln/>
        </p:spPr>
        <p:txBody>
          <a:bodyPr wrap="square" lIns="0" tIns="0" rIns="0" bIns="0" rtlCol="0" anchor="ctr"/>
          <a:lstStyle/>
          <a:p>
            <a:pPr marL="0" indent="0">
              <a:buNone/>
            </a:pPr>
            <a:r>
              <a:rPr lang="en-US" sz="1000" dirty="0">
                <a:solidFill>
                  <a:srgbClr val="9E8E7E"/>
                </a:solidFill>
                <a:latin typeface="Calibri" pitchFamily="34" charset="0"/>
                <a:ea typeface="Calibri" pitchFamily="34" charset="-122"/>
                <a:cs typeface="Calibri" pitchFamily="34" charset="-120"/>
              </a:rPr>
              <a:t>Presentado por:</a:t>
            </a:r>
            <a:endParaRPr lang="en-US" sz="1000" dirty="0"/>
          </a:p>
        </p:txBody>
      </p:sp>
      <p:sp>
        <p:nvSpPr>
          <p:cNvPr id="13" name="Text 11"/>
          <p:cNvSpPr/>
          <p:nvPr/>
        </p:nvSpPr>
        <p:spPr>
          <a:xfrm>
            <a:off x="5943600" y="2148840"/>
            <a:ext cx="3017520" cy="86868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María del Mar</a:t>
            </a:r>
            <a:endParaRPr lang="en-US" sz="1800" dirty="0"/>
          </a:p>
          <a:p>
            <a:pPr marL="0" indent="0">
              <a:buNone/>
            </a:pPr>
            <a:r>
              <a:rPr lang="en-US" sz="1800" b="1" dirty="0">
                <a:solidFill>
                  <a:srgbClr val="FFFFFF"/>
                </a:solidFill>
                <a:latin typeface="Georgia" pitchFamily="34" charset="0"/>
                <a:ea typeface="Georgia" pitchFamily="34" charset="-122"/>
                <a:cs typeface="Georgia" pitchFamily="34" charset="-120"/>
              </a:rPr>
              <a:t>Tobón Higuita</a:t>
            </a:r>
            <a:endParaRPr lang="en-US" sz="1800" dirty="0"/>
          </a:p>
        </p:txBody>
      </p:sp>
      <p:sp>
        <p:nvSpPr>
          <p:cNvPr id="14" name="Shape 12"/>
          <p:cNvSpPr/>
          <p:nvPr/>
        </p:nvSpPr>
        <p:spPr>
          <a:xfrm>
            <a:off x="5943600" y="3127248"/>
            <a:ext cx="2377440" cy="45720"/>
          </a:xfrm>
          <a:prstGeom prst="rect">
            <a:avLst/>
          </a:prstGeom>
          <a:solidFill>
            <a:srgbClr val="B8952A"/>
          </a:solidFill>
          <a:ln/>
        </p:spPr>
      </p:sp>
      <p:sp>
        <p:nvSpPr>
          <p:cNvPr id="15" name="Text 13"/>
          <p:cNvSpPr/>
          <p:nvPr/>
        </p:nvSpPr>
        <p:spPr>
          <a:xfrm>
            <a:off x="5943600" y="3246120"/>
            <a:ext cx="3017520" cy="320040"/>
          </a:xfrm>
          <a:prstGeom prst="rect">
            <a:avLst/>
          </a:prstGeom>
          <a:noFill/>
          <a:ln/>
        </p:spPr>
        <p:txBody>
          <a:bodyPr wrap="square" rtlCol="0" anchor="ctr"/>
          <a:lstStyle/>
          <a:p>
            <a:pPr marL="0" indent="0">
              <a:buNone/>
            </a:pPr>
            <a:r>
              <a:rPr lang="en-US" sz="1300" dirty="0">
                <a:solidFill>
                  <a:srgbClr val="9E8E7E"/>
                </a:solidFill>
                <a:latin typeface="Calibri" pitchFamily="34" charset="0"/>
                <a:ea typeface="Calibri" pitchFamily="34" charset="-122"/>
                <a:cs typeface="Calibri" pitchFamily="34" charset="-120"/>
              </a:rPr>
              <a:t>2026</a:t>
            </a:r>
            <a:endParaRPr lang="en-US" sz="1300" dirty="0"/>
          </a:p>
        </p:txBody>
      </p:sp>
      <p:sp>
        <p:nvSpPr>
          <p:cNvPr id="16" name="Shape 14"/>
          <p:cNvSpPr/>
          <p:nvPr/>
        </p:nvSpPr>
        <p:spPr>
          <a:xfrm>
            <a:off x="502920" y="4663440"/>
            <a:ext cx="1188720" cy="301752"/>
          </a:xfrm>
          <a:prstGeom prst="rect">
            <a:avLst/>
          </a:prstGeom>
          <a:solidFill>
            <a:srgbClr val="8B2942">
              <a:alpha val="70000"/>
            </a:srgbClr>
          </a:solidFill>
          <a:ln w="6350">
            <a:solidFill>
              <a:srgbClr val="B8952A"/>
            </a:solidFill>
            <a:prstDash val="solid"/>
          </a:ln>
        </p:spPr>
      </p:sp>
      <p:sp>
        <p:nvSpPr>
          <p:cNvPr id="17" name="Text 15"/>
          <p:cNvSpPr/>
          <p:nvPr/>
        </p:nvSpPr>
        <p:spPr>
          <a:xfrm>
            <a:off x="502920" y="4663440"/>
            <a:ext cx="1188720" cy="30175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Python 3</a:t>
            </a:r>
            <a:endParaRPr lang="en-US" sz="900" dirty="0"/>
          </a:p>
        </p:txBody>
      </p:sp>
      <p:sp>
        <p:nvSpPr>
          <p:cNvPr id="18" name="Shape 16"/>
          <p:cNvSpPr/>
          <p:nvPr/>
        </p:nvSpPr>
        <p:spPr>
          <a:xfrm>
            <a:off x="1801368" y="4663440"/>
            <a:ext cx="1188720" cy="301752"/>
          </a:xfrm>
          <a:prstGeom prst="rect">
            <a:avLst/>
          </a:prstGeom>
          <a:solidFill>
            <a:srgbClr val="8B2942">
              <a:alpha val="70000"/>
            </a:srgbClr>
          </a:solidFill>
          <a:ln w="6350">
            <a:solidFill>
              <a:srgbClr val="B8952A"/>
            </a:solidFill>
            <a:prstDash val="solid"/>
          </a:ln>
        </p:spPr>
      </p:sp>
      <p:sp>
        <p:nvSpPr>
          <p:cNvPr id="19" name="Text 17"/>
          <p:cNvSpPr/>
          <p:nvPr/>
        </p:nvSpPr>
        <p:spPr>
          <a:xfrm>
            <a:off x="1801368" y="4663440"/>
            <a:ext cx="1188720" cy="30175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Tkinter</a:t>
            </a:r>
            <a:endParaRPr lang="en-US" sz="900" dirty="0"/>
          </a:p>
        </p:txBody>
      </p:sp>
      <p:sp>
        <p:nvSpPr>
          <p:cNvPr id="20" name="Shape 18"/>
          <p:cNvSpPr/>
          <p:nvPr/>
        </p:nvSpPr>
        <p:spPr>
          <a:xfrm>
            <a:off x="3099816" y="4663440"/>
            <a:ext cx="1188720" cy="301752"/>
          </a:xfrm>
          <a:prstGeom prst="rect">
            <a:avLst/>
          </a:prstGeom>
          <a:solidFill>
            <a:srgbClr val="8B2942">
              <a:alpha val="70000"/>
            </a:srgbClr>
          </a:solidFill>
          <a:ln w="6350">
            <a:solidFill>
              <a:srgbClr val="B8952A"/>
            </a:solidFill>
            <a:prstDash val="solid"/>
          </a:ln>
        </p:spPr>
      </p:sp>
      <p:sp>
        <p:nvSpPr>
          <p:cNvPr id="21" name="Text 19"/>
          <p:cNvSpPr/>
          <p:nvPr/>
        </p:nvSpPr>
        <p:spPr>
          <a:xfrm>
            <a:off x="3099816" y="4663440"/>
            <a:ext cx="1188720" cy="30175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ttk</a:t>
            </a:r>
            <a:endParaRPr lang="en-US" sz="900" dirty="0"/>
          </a:p>
        </p:txBody>
      </p:sp>
      <p:sp>
        <p:nvSpPr>
          <p:cNvPr id="22" name="Shape 20"/>
          <p:cNvSpPr/>
          <p:nvPr/>
        </p:nvSpPr>
        <p:spPr>
          <a:xfrm>
            <a:off x="4398264" y="4663440"/>
            <a:ext cx="1188720" cy="301752"/>
          </a:xfrm>
          <a:prstGeom prst="rect">
            <a:avLst/>
          </a:prstGeom>
          <a:solidFill>
            <a:srgbClr val="8B2942">
              <a:alpha val="70000"/>
            </a:srgbClr>
          </a:solidFill>
          <a:ln w="6350">
            <a:solidFill>
              <a:srgbClr val="B8952A"/>
            </a:solidFill>
            <a:prstDash val="solid"/>
          </a:ln>
        </p:spPr>
      </p:sp>
      <p:sp>
        <p:nvSpPr>
          <p:cNvPr id="23" name="Text 21"/>
          <p:cNvSpPr/>
          <p:nvPr/>
        </p:nvSpPr>
        <p:spPr>
          <a:xfrm>
            <a:off x="4398264" y="4663440"/>
            <a:ext cx="1188720" cy="30175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Gestión Legal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30"/>
          </a:solidFill>
          <a:ln/>
        </p:spPr>
      </p:sp>
      <p:sp>
        <p:nvSpPr>
          <p:cNvPr id="3" name="Shape 1"/>
          <p:cNvSpPr/>
          <p:nvPr/>
        </p:nvSpPr>
        <p:spPr>
          <a:xfrm>
            <a:off x="0" y="960120"/>
            <a:ext cx="9144000" cy="45720"/>
          </a:xfrm>
          <a:prstGeom prst="rect">
            <a:avLst/>
          </a:prstGeom>
          <a:solidFill>
            <a:srgbClr val="B8952A"/>
          </a:solidFill>
          <a:ln/>
        </p:spPr>
      </p:sp>
      <p:sp>
        <p:nvSpPr>
          <p:cNvPr id="4" name="Text 2"/>
          <p:cNvSpPr/>
          <p:nvPr/>
        </p:nvSpPr>
        <p:spPr>
          <a:xfrm>
            <a:off x="411480" y="118872"/>
            <a:ext cx="832104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Contenido de la Presentación</a:t>
            </a:r>
            <a:endParaRPr lang="en-US" sz="2200" dirty="0"/>
          </a:p>
        </p:txBody>
      </p:sp>
      <p:sp>
        <p:nvSpPr>
          <p:cNvPr id="5" name="Text 3"/>
          <p:cNvSpPr/>
          <p:nvPr/>
        </p:nvSpPr>
        <p:spPr>
          <a:xfrm>
            <a:off x="411480" y="658368"/>
            <a:ext cx="8229600" cy="256032"/>
          </a:xfrm>
          <a:prstGeom prst="rect">
            <a:avLst/>
          </a:prstGeom>
          <a:noFill/>
          <a:ln/>
        </p:spPr>
        <p:txBody>
          <a:bodyPr wrap="square" lIns="0" tIns="0" rIns="0" bIns="0" rtlCol="0" anchor="ctr"/>
          <a:lstStyle/>
          <a:p>
            <a:pPr marL="0" indent="0">
              <a:buNone/>
            </a:pPr>
            <a:r>
              <a:rPr lang="en-US" sz="1050" i="1" dirty="0">
                <a:solidFill>
                  <a:srgbClr val="D4AF37"/>
                </a:solidFill>
                <a:latin typeface="Calibri" pitchFamily="34" charset="0"/>
                <a:ea typeface="Calibri" pitchFamily="34" charset="-122"/>
                <a:cs typeface="Calibri" pitchFamily="34" charset="-120"/>
              </a:rPr>
              <a:t>Estructura del proyecto LawFirm — Justicia &amp; Asociados</a:t>
            </a:r>
            <a:endParaRPr lang="en-US" sz="1050" dirty="0"/>
          </a:p>
        </p:txBody>
      </p:sp>
      <p:sp>
        <p:nvSpPr>
          <p:cNvPr id="6" name="Shape 4"/>
          <p:cNvSpPr/>
          <p:nvPr/>
        </p:nvSpPr>
        <p:spPr>
          <a:xfrm>
            <a:off x="365760" y="1234440"/>
            <a:ext cx="4023360" cy="1508760"/>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7" name="Shape 5"/>
          <p:cNvSpPr/>
          <p:nvPr/>
        </p:nvSpPr>
        <p:spPr>
          <a:xfrm>
            <a:off x="365760" y="1234440"/>
            <a:ext cx="4023360" cy="457200"/>
          </a:xfrm>
          <a:prstGeom prst="rect">
            <a:avLst/>
          </a:prstGeom>
          <a:solidFill>
            <a:srgbClr val="5C1A30"/>
          </a:solidFill>
          <a:ln/>
        </p:spPr>
      </p:sp>
      <p:sp>
        <p:nvSpPr>
          <p:cNvPr id="8" name="Text 6"/>
          <p:cNvSpPr/>
          <p:nvPr/>
        </p:nvSpPr>
        <p:spPr>
          <a:xfrm>
            <a:off x="502920" y="1307592"/>
            <a:ext cx="640080" cy="32004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01</a:t>
            </a:r>
            <a:endParaRPr lang="en-US" sz="2000" dirty="0"/>
          </a:p>
        </p:txBody>
      </p:sp>
      <p:sp>
        <p:nvSpPr>
          <p:cNvPr id="9" name="Text 7"/>
          <p:cNvSpPr/>
          <p:nvPr/>
        </p:nvSpPr>
        <p:spPr>
          <a:xfrm>
            <a:off x="548640" y="1801368"/>
            <a:ext cx="3566160" cy="347472"/>
          </a:xfrm>
          <a:prstGeom prst="rect">
            <a:avLst/>
          </a:prstGeom>
          <a:noFill/>
          <a:ln/>
        </p:spPr>
        <p:txBody>
          <a:bodyPr wrap="square" lIns="0" tIns="0" rIns="0" bIns="0" rtlCol="0" anchor="ctr"/>
          <a:lstStyle/>
          <a:p>
            <a:pPr marL="0" indent="0">
              <a:buNone/>
            </a:pPr>
            <a:r>
              <a:rPr lang="en-US" sz="1200" b="1" dirty="0">
                <a:solidFill>
                  <a:srgbClr val="5C1A30"/>
                </a:solidFill>
                <a:latin typeface="Georgia" pitchFamily="34" charset="0"/>
                <a:ea typeface="Georgia" pitchFamily="34" charset="-122"/>
                <a:cs typeface="Georgia" pitchFamily="34" charset="-120"/>
              </a:rPr>
              <a:t>Propósito y Objetivos</a:t>
            </a:r>
            <a:endParaRPr lang="en-US" sz="1200" dirty="0"/>
          </a:p>
        </p:txBody>
      </p:sp>
      <p:sp>
        <p:nvSpPr>
          <p:cNvPr id="10" name="Text 8"/>
          <p:cNvSpPr/>
          <p:nvPr/>
        </p:nvSpPr>
        <p:spPr>
          <a:xfrm>
            <a:off x="548640" y="2167128"/>
            <a:ext cx="3566160" cy="320040"/>
          </a:xfrm>
          <a:prstGeom prst="rect">
            <a:avLst/>
          </a:prstGeom>
          <a:noFill/>
          <a:ln/>
        </p:spPr>
        <p:txBody>
          <a:bodyPr wrap="square" lIns="0" tIns="0" rIns="0" bIns="0" rtlCol="0" anchor="ctr"/>
          <a:lstStyle/>
          <a:p>
            <a:pPr marL="0" indent="0">
              <a:buNone/>
            </a:pPr>
            <a:r>
              <a:rPr lang="en-US" sz="1000" dirty="0">
                <a:solidFill>
                  <a:srgbClr val="9E8E7E"/>
                </a:solidFill>
                <a:latin typeface="Calibri" pitchFamily="34" charset="0"/>
                <a:ea typeface="Calibri" pitchFamily="34" charset="-122"/>
                <a:cs typeface="Calibri" pitchFamily="34" charset="-120"/>
              </a:rPr>
              <a:t>¿Qué busca lograr el sistema?</a:t>
            </a:r>
            <a:endParaRPr lang="en-US" sz="1000" dirty="0"/>
          </a:p>
        </p:txBody>
      </p:sp>
      <p:sp>
        <p:nvSpPr>
          <p:cNvPr id="11" name="Shape 9"/>
          <p:cNvSpPr/>
          <p:nvPr/>
        </p:nvSpPr>
        <p:spPr>
          <a:xfrm>
            <a:off x="4754880" y="1234440"/>
            <a:ext cx="4023360" cy="1508760"/>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2" name="Shape 10"/>
          <p:cNvSpPr/>
          <p:nvPr/>
        </p:nvSpPr>
        <p:spPr>
          <a:xfrm>
            <a:off x="4754880" y="1234440"/>
            <a:ext cx="4023360" cy="457200"/>
          </a:xfrm>
          <a:prstGeom prst="rect">
            <a:avLst/>
          </a:prstGeom>
          <a:solidFill>
            <a:srgbClr val="8B2942"/>
          </a:solidFill>
          <a:ln/>
        </p:spPr>
      </p:sp>
      <p:sp>
        <p:nvSpPr>
          <p:cNvPr id="13" name="Text 11"/>
          <p:cNvSpPr/>
          <p:nvPr/>
        </p:nvSpPr>
        <p:spPr>
          <a:xfrm>
            <a:off x="4892040" y="1307592"/>
            <a:ext cx="640080" cy="32004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02</a:t>
            </a:r>
            <a:endParaRPr lang="en-US" sz="2000" dirty="0"/>
          </a:p>
        </p:txBody>
      </p:sp>
      <p:sp>
        <p:nvSpPr>
          <p:cNvPr id="14" name="Text 12"/>
          <p:cNvSpPr/>
          <p:nvPr/>
        </p:nvSpPr>
        <p:spPr>
          <a:xfrm>
            <a:off x="4937760" y="1801368"/>
            <a:ext cx="3566160" cy="347472"/>
          </a:xfrm>
          <a:prstGeom prst="rect">
            <a:avLst/>
          </a:prstGeom>
          <a:noFill/>
          <a:ln/>
        </p:spPr>
        <p:txBody>
          <a:bodyPr wrap="square" lIns="0" tIns="0" rIns="0" bIns="0" rtlCol="0" anchor="ctr"/>
          <a:lstStyle/>
          <a:p>
            <a:pPr marL="0" indent="0">
              <a:buNone/>
            </a:pPr>
            <a:r>
              <a:rPr lang="en-US" sz="1200" b="1" dirty="0">
                <a:solidFill>
                  <a:srgbClr val="5C1A30"/>
                </a:solidFill>
                <a:latin typeface="Georgia" pitchFamily="34" charset="0"/>
                <a:ea typeface="Georgia" pitchFamily="34" charset="-122"/>
                <a:cs typeface="Georgia" pitchFamily="34" charset="-120"/>
              </a:rPr>
              <a:t>Problemática que Resuelve</a:t>
            </a:r>
            <a:endParaRPr lang="en-US" sz="1200" dirty="0"/>
          </a:p>
        </p:txBody>
      </p:sp>
      <p:sp>
        <p:nvSpPr>
          <p:cNvPr id="15" name="Text 13"/>
          <p:cNvSpPr/>
          <p:nvPr/>
        </p:nvSpPr>
        <p:spPr>
          <a:xfrm>
            <a:off x="4937760" y="2167128"/>
            <a:ext cx="3566160" cy="320040"/>
          </a:xfrm>
          <a:prstGeom prst="rect">
            <a:avLst/>
          </a:prstGeom>
          <a:noFill/>
          <a:ln/>
        </p:spPr>
        <p:txBody>
          <a:bodyPr wrap="square" lIns="0" tIns="0" rIns="0" bIns="0" rtlCol="0" anchor="ctr"/>
          <a:lstStyle/>
          <a:p>
            <a:pPr marL="0" indent="0">
              <a:buNone/>
            </a:pPr>
            <a:r>
              <a:rPr lang="en-US" sz="1000" dirty="0">
                <a:solidFill>
                  <a:srgbClr val="9E8E7E"/>
                </a:solidFill>
                <a:latin typeface="Calibri" pitchFamily="34" charset="0"/>
                <a:ea typeface="Calibri" pitchFamily="34" charset="-122"/>
                <a:cs typeface="Calibri" pitchFamily="34" charset="-120"/>
              </a:rPr>
              <a:t>Contexto y necesidades del bufete</a:t>
            </a:r>
            <a:endParaRPr lang="en-US" sz="1000" dirty="0"/>
          </a:p>
        </p:txBody>
      </p:sp>
      <p:sp>
        <p:nvSpPr>
          <p:cNvPr id="16" name="Shape 14"/>
          <p:cNvSpPr/>
          <p:nvPr/>
        </p:nvSpPr>
        <p:spPr>
          <a:xfrm>
            <a:off x="365760" y="2953512"/>
            <a:ext cx="4023360" cy="1508760"/>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7" name="Shape 15"/>
          <p:cNvSpPr/>
          <p:nvPr/>
        </p:nvSpPr>
        <p:spPr>
          <a:xfrm>
            <a:off x="365760" y="2953512"/>
            <a:ext cx="4023360" cy="457200"/>
          </a:xfrm>
          <a:prstGeom prst="rect">
            <a:avLst/>
          </a:prstGeom>
          <a:solidFill>
            <a:srgbClr val="B8952A"/>
          </a:solidFill>
          <a:ln/>
        </p:spPr>
      </p:sp>
      <p:sp>
        <p:nvSpPr>
          <p:cNvPr id="18" name="Text 16"/>
          <p:cNvSpPr/>
          <p:nvPr/>
        </p:nvSpPr>
        <p:spPr>
          <a:xfrm>
            <a:off x="502920" y="3026664"/>
            <a:ext cx="640080" cy="32004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03</a:t>
            </a:r>
            <a:endParaRPr lang="en-US" sz="2000" dirty="0"/>
          </a:p>
        </p:txBody>
      </p:sp>
      <p:sp>
        <p:nvSpPr>
          <p:cNvPr id="19" name="Text 17"/>
          <p:cNvSpPr/>
          <p:nvPr/>
        </p:nvSpPr>
        <p:spPr>
          <a:xfrm>
            <a:off x="548640" y="3520440"/>
            <a:ext cx="3566160" cy="347472"/>
          </a:xfrm>
          <a:prstGeom prst="rect">
            <a:avLst/>
          </a:prstGeom>
          <a:noFill/>
          <a:ln/>
        </p:spPr>
        <p:txBody>
          <a:bodyPr wrap="square" lIns="0" tIns="0" rIns="0" bIns="0" rtlCol="0" anchor="ctr"/>
          <a:lstStyle/>
          <a:p>
            <a:pPr marL="0" indent="0">
              <a:buNone/>
            </a:pPr>
            <a:r>
              <a:rPr lang="en-US" sz="1200" b="1" dirty="0">
                <a:solidFill>
                  <a:srgbClr val="5C1A30"/>
                </a:solidFill>
                <a:latin typeface="Georgia" pitchFamily="34" charset="0"/>
                <a:ea typeface="Georgia" pitchFamily="34" charset="-122"/>
                <a:cs typeface="Georgia" pitchFamily="34" charset="-120"/>
              </a:rPr>
              <a:t>Tecnologías Utilizadas</a:t>
            </a:r>
            <a:endParaRPr lang="en-US" sz="1200" dirty="0"/>
          </a:p>
        </p:txBody>
      </p:sp>
      <p:sp>
        <p:nvSpPr>
          <p:cNvPr id="20" name="Text 18"/>
          <p:cNvSpPr/>
          <p:nvPr/>
        </p:nvSpPr>
        <p:spPr>
          <a:xfrm>
            <a:off x="548640" y="3886200"/>
            <a:ext cx="3566160" cy="320040"/>
          </a:xfrm>
          <a:prstGeom prst="rect">
            <a:avLst/>
          </a:prstGeom>
          <a:noFill/>
          <a:ln/>
        </p:spPr>
        <p:txBody>
          <a:bodyPr wrap="square" lIns="0" tIns="0" rIns="0" bIns="0" rtlCol="0" anchor="ctr"/>
          <a:lstStyle/>
          <a:p>
            <a:pPr marL="0" indent="0">
              <a:buNone/>
            </a:pPr>
            <a:r>
              <a:rPr lang="en-US" sz="1000" dirty="0">
                <a:solidFill>
                  <a:srgbClr val="9E8E7E"/>
                </a:solidFill>
                <a:latin typeface="Calibri" pitchFamily="34" charset="0"/>
                <a:ea typeface="Calibri" pitchFamily="34" charset="-122"/>
                <a:cs typeface="Calibri" pitchFamily="34" charset="-120"/>
              </a:rPr>
              <a:t>Stack técnico y herramientas</a:t>
            </a:r>
            <a:endParaRPr lang="en-US" sz="1000" dirty="0"/>
          </a:p>
        </p:txBody>
      </p:sp>
      <p:sp>
        <p:nvSpPr>
          <p:cNvPr id="21" name="Shape 19"/>
          <p:cNvSpPr/>
          <p:nvPr/>
        </p:nvSpPr>
        <p:spPr>
          <a:xfrm>
            <a:off x="4754880" y="2953512"/>
            <a:ext cx="4023360" cy="1508760"/>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22" name="Shape 20"/>
          <p:cNvSpPr/>
          <p:nvPr/>
        </p:nvSpPr>
        <p:spPr>
          <a:xfrm>
            <a:off x="4754880" y="2953512"/>
            <a:ext cx="4023360" cy="457200"/>
          </a:xfrm>
          <a:prstGeom prst="rect">
            <a:avLst/>
          </a:prstGeom>
          <a:solidFill>
            <a:srgbClr val="2C2016"/>
          </a:solidFill>
          <a:ln/>
        </p:spPr>
      </p:sp>
      <p:sp>
        <p:nvSpPr>
          <p:cNvPr id="23" name="Text 21"/>
          <p:cNvSpPr/>
          <p:nvPr/>
        </p:nvSpPr>
        <p:spPr>
          <a:xfrm>
            <a:off x="4892040" y="3026664"/>
            <a:ext cx="640080" cy="32004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04</a:t>
            </a:r>
            <a:endParaRPr lang="en-US" sz="2000" dirty="0"/>
          </a:p>
        </p:txBody>
      </p:sp>
      <p:sp>
        <p:nvSpPr>
          <p:cNvPr id="24" name="Text 22"/>
          <p:cNvSpPr/>
          <p:nvPr/>
        </p:nvSpPr>
        <p:spPr>
          <a:xfrm>
            <a:off x="4937760" y="3520440"/>
            <a:ext cx="3566160" cy="347472"/>
          </a:xfrm>
          <a:prstGeom prst="rect">
            <a:avLst/>
          </a:prstGeom>
          <a:noFill/>
          <a:ln/>
        </p:spPr>
        <p:txBody>
          <a:bodyPr wrap="square" lIns="0" tIns="0" rIns="0" bIns="0" rtlCol="0" anchor="ctr"/>
          <a:lstStyle/>
          <a:p>
            <a:pPr marL="0" indent="0">
              <a:buNone/>
            </a:pPr>
            <a:r>
              <a:rPr lang="en-US" sz="1200" b="1" dirty="0">
                <a:solidFill>
                  <a:srgbClr val="5C1A30"/>
                </a:solidFill>
                <a:latin typeface="Georgia" pitchFamily="34" charset="0"/>
                <a:ea typeface="Georgia" pitchFamily="34" charset="-122"/>
                <a:cs typeface="Georgia" pitchFamily="34" charset="-120"/>
              </a:rPr>
              <a:t>Conclusiones y Aprendizajes</a:t>
            </a:r>
            <a:endParaRPr lang="en-US" sz="1200" dirty="0"/>
          </a:p>
        </p:txBody>
      </p:sp>
      <p:sp>
        <p:nvSpPr>
          <p:cNvPr id="25" name="Text 23"/>
          <p:cNvSpPr/>
          <p:nvPr/>
        </p:nvSpPr>
        <p:spPr>
          <a:xfrm>
            <a:off x="4937760" y="3886200"/>
            <a:ext cx="3566160" cy="320040"/>
          </a:xfrm>
          <a:prstGeom prst="rect">
            <a:avLst/>
          </a:prstGeom>
          <a:noFill/>
          <a:ln/>
        </p:spPr>
        <p:txBody>
          <a:bodyPr wrap="square" lIns="0" tIns="0" rIns="0" bIns="0" rtlCol="0" anchor="ctr"/>
          <a:lstStyle/>
          <a:p>
            <a:pPr marL="0" indent="0">
              <a:buNone/>
            </a:pPr>
            <a:r>
              <a:rPr lang="en-US" sz="1000" dirty="0">
                <a:solidFill>
                  <a:srgbClr val="9E8E7E"/>
                </a:solidFill>
                <a:latin typeface="Calibri" pitchFamily="34" charset="0"/>
                <a:ea typeface="Calibri" pitchFamily="34" charset="-122"/>
                <a:cs typeface="Calibri" pitchFamily="34" charset="-120"/>
              </a:rPr>
              <a:t>Resultados y reflexiones finales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30"/>
          </a:solidFill>
          <a:ln/>
        </p:spPr>
      </p:sp>
      <p:sp>
        <p:nvSpPr>
          <p:cNvPr id="3" name="Shape 1"/>
          <p:cNvSpPr/>
          <p:nvPr/>
        </p:nvSpPr>
        <p:spPr>
          <a:xfrm>
            <a:off x="0" y="960120"/>
            <a:ext cx="9144000" cy="45720"/>
          </a:xfrm>
          <a:prstGeom prst="rect">
            <a:avLst/>
          </a:prstGeom>
          <a:solidFill>
            <a:srgbClr val="B8952A"/>
          </a:solidFill>
          <a:ln/>
        </p:spPr>
      </p:sp>
      <p:sp>
        <p:nvSpPr>
          <p:cNvPr id="4" name="Text 2"/>
          <p:cNvSpPr/>
          <p:nvPr/>
        </p:nvSpPr>
        <p:spPr>
          <a:xfrm>
            <a:off x="411480" y="118872"/>
            <a:ext cx="832104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Propósito y Objetivos del Proyecto</a:t>
            </a:r>
            <a:endParaRPr lang="en-US" sz="2200" dirty="0"/>
          </a:p>
        </p:txBody>
      </p:sp>
      <p:sp>
        <p:nvSpPr>
          <p:cNvPr id="5" name="Text 3"/>
          <p:cNvSpPr/>
          <p:nvPr/>
        </p:nvSpPr>
        <p:spPr>
          <a:xfrm>
            <a:off x="411480" y="658368"/>
            <a:ext cx="8229600" cy="256032"/>
          </a:xfrm>
          <a:prstGeom prst="rect">
            <a:avLst/>
          </a:prstGeom>
          <a:noFill/>
          <a:ln/>
        </p:spPr>
        <p:txBody>
          <a:bodyPr wrap="square" lIns="0" tIns="0" rIns="0" bIns="0" rtlCol="0" anchor="ctr"/>
          <a:lstStyle/>
          <a:p>
            <a:pPr marL="0" indent="0">
              <a:buNone/>
            </a:pPr>
            <a:r>
              <a:rPr lang="en-US" sz="1050" i="1" dirty="0">
                <a:solidFill>
                  <a:srgbClr val="D4AF37"/>
                </a:solidFill>
                <a:latin typeface="Calibri" pitchFamily="34" charset="0"/>
                <a:ea typeface="Calibri" pitchFamily="34" charset="-122"/>
                <a:cs typeface="Calibri" pitchFamily="34" charset="-120"/>
              </a:rPr>
              <a:t>LawFirm — Justicia &amp; Asociados</a:t>
            </a:r>
            <a:endParaRPr lang="en-US" sz="1050" dirty="0"/>
          </a:p>
        </p:txBody>
      </p:sp>
      <p:sp>
        <p:nvSpPr>
          <p:cNvPr id="6" name="Shape 4"/>
          <p:cNvSpPr/>
          <p:nvPr/>
        </p:nvSpPr>
        <p:spPr>
          <a:xfrm>
            <a:off x="365760" y="1115568"/>
            <a:ext cx="8412480" cy="987552"/>
          </a:xfrm>
          <a:prstGeom prst="rect">
            <a:avLst/>
          </a:prstGeom>
          <a:solidFill>
            <a:srgbClr val="5C1A30"/>
          </a:solidFill>
          <a:ln/>
          <a:effectLst>
            <a:outerShdw blurRad="88900" dist="38100" dir="8100000" algn="bl" rotWithShape="0">
              <a:srgbClr val="000000">
                <a:alpha val="14000"/>
              </a:srgbClr>
            </a:outerShdw>
          </a:effectLst>
        </p:spPr>
      </p:sp>
      <p:sp>
        <p:nvSpPr>
          <p:cNvPr id="7" name="Text 5"/>
          <p:cNvSpPr/>
          <p:nvPr/>
        </p:nvSpPr>
        <p:spPr>
          <a:xfrm>
            <a:off x="548640" y="1152144"/>
            <a:ext cx="1828800" cy="274320"/>
          </a:xfrm>
          <a:prstGeom prst="rect">
            <a:avLst/>
          </a:prstGeom>
          <a:noFill/>
          <a:ln/>
        </p:spPr>
        <p:txBody>
          <a:bodyPr wrap="square" lIns="0" tIns="0" rIns="0" bIns="0" rtlCol="0" anchor="ctr"/>
          <a:lstStyle/>
          <a:p>
            <a:pPr marL="0" indent="0">
              <a:buNone/>
            </a:pPr>
            <a:r>
              <a:rPr lang="en-US" sz="1000" b="1" dirty="0">
                <a:solidFill>
                  <a:srgbClr val="D4AF37"/>
                </a:solidFill>
                <a:latin typeface="Georgia" pitchFamily="34" charset="0"/>
                <a:ea typeface="Georgia" pitchFamily="34" charset="-122"/>
                <a:cs typeface="Georgia" pitchFamily="34" charset="-120"/>
              </a:rPr>
              <a:t>Propósito</a:t>
            </a:r>
            <a:endParaRPr lang="en-US" sz="1000" dirty="0"/>
          </a:p>
        </p:txBody>
      </p:sp>
      <p:sp>
        <p:nvSpPr>
          <p:cNvPr id="8" name="Text 6"/>
          <p:cNvSpPr/>
          <p:nvPr/>
        </p:nvSpPr>
        <p:spPr>
          <a:xfrm>
            <a:off x="548640" y="1399032"/>
            <a:ext cx="8092440" cy="6400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Desarrollar un sistema de escritorio integral para Justicia &amp; Asociados que centralice la gestión de clientes, abogados, casos, actuaciones, documentos, audiencias, facturación y biblioteca jurídica en una sola plataforma, mejorando la trazabilidad, confidencialidad y eficiencia operativa del bufete.</a:t>
            </a:r>
            <a:endParaRPr lang="en-US" sz="1050" dirty="0"/>
          </a:p>
        </p:txBody>
      </p:sp>
      <p:sp>
        <p:nvSpPr>
          <p:cNvPr id="9" name="Shape 7"/>
          <p:cNvSpPr/>
          <p:nvPr/>
        </p:nvSpPr>
        <p:spPr>
          <a:xfrm>
            <a:off x="365760" y="2267712"/>
            <a:ext cx="4069080" cy="117043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0" name="Shape 8"/>
          <p:cNvSpPr/>
          <p:nvPr/>
        </p:nvSpPr>
        <p:spPr>
          <a:xfrm>
            <a:off x="365760" y="2267712"/>
            <a:ext cx="73152" cy="1170432"/>
          </a:xfrm>
          <a:prstGeom prst="rect">
            <a:avLst/>
          </a:prstGeom>
          <a:solidFill>
            <a:srgbClr val="B8952A"/>
          </a:solidFill>
          <a:ln/>
        </p:spPr>
      </p:sp>
      <p:sp>
        <p:nvSpPr>
          <p:cNvPr id="11" name="Text 9"/>
          <p:cNvSpPr/>
          <p:nvPr/>
        </p:nvSpPr>
        <p:spPr>
          <a:xfrm>
            <a:off x="530352" y="2404872"/>
            <a:ext cx="457200" cy="438912"/>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2" name="Text 10"/>
          <p:cNvSpPr/>
          <p:nvPr/>
        </p:nvSpPr>
        <p:spPr>
          <a:xfrm>
            <a:off x="1051560" y="2432304"/>
            <a:ext cx="3108960" cy="347472"/>
          </a:xfrm>
          <a:prstGeom prst="rect">
            <a:avLst/>
          </a:prstGeom>
          <a:noFill/>
          <a:ln/>
        </p:spPr>
        <p:txBody>
          <a:bodyPr wrap="square" lIns="0" tIns="0" rIns="0" bIns="0" rtlCol="0" anchor="ctr"/>
          <a:lstStyle/>
          <a:p>
            <a:pPr marL="0" indent="0">
              <a:buNone/>
            </a:pPr>
            <a:r>
              <a:rPr lang="en-US" sz="1200" b="1" dirty="0">
                <a:solidFill>
                  <a:srgbClr val="5C1A30"/>
                </a:solidFill>
                <a:latin typeface="Georgia" pitchFamily="34" charset="0"/>
                <a:ea typeface="Georgia" pitchFamily="34" charset="-122"/>
                <a:cs typeface="Georgia" pitchFamily="34" charset="-120"/>
              </a:rPr>
              <a:t>Centralizar</a:t>
            </a:r>
            <a:endParaRPr lang="en-US" sz="1200" dirty="0"/>
          </a:p>
        </p:txBody>
      </p:sp>
      <p:sp>
        <p:nvSpPr>
          <p:cNvPr id="13" name="Text 11"/>
          <p:cNvSpPr/>
          <p:nvPr/>
        </p:nvSpPr>
        <p:spPr>
          <a:xfrm>
            <a:off x="566928" y="2889504"/>
            <a:ext cx="365760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Unificar clientes, abogados, casos y documentos en un solo entorno controlado.</a:t>
            </a:r>
            <a:endParaRPr lang="en-US" sz="950" dirty="0"/>
          </a:p>
        </p:txBody>
      </p:sp>
      <p:sp>
        <p:nvSpPr>
          <p:cNvPr id="14" name="Shape 12"/>
          <p:cNvSpPr/>
          <p:nvPr/>
        </p:nvSpPr>
        <p:spPr>
          <a:xfrm>
            <a:off x="4709160" y="2267712"/>
            <a:ext cx="4069080" cy="117043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5" name="Shape 13"/>
          <p:cNvSpPr/>
          <p:nvPr/>
        </p:nvSpPr>
        <p:spPr>
          <a:xfrm>
            <a:off x="4709160" y="2267712"/>
            <a:ext cx="73152" cy="1170432"/>
          </a:xfrm>
          <a:prstGeom prst="rect">
            <a:avLst/>
          </a:prstGeom>
          <a:solidFill>
            <a:srgbClr val="B8952A"/>
          </a:solidFill>
          <a:ln/>
        </p:spPr>
      </p:sp>
      <p:sp>
        <p:nvSpPr>
          <p:cNvPr id="16" name="Text 14"/>
          <p:cNvSpPr/>
          <p:nvPr/>
        </p:nvSpPr>
        <p:spPr>
          <a:xfrm>
            <a:off x="4873752" y="2404872"/>
            <a:ext cx="457200" cy="438912"/>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7" name="Text 15"/>
          <p:cNvSpPr/>
          <p:nvPr/>
        </p:nvSpPr>
        <p:spPr>
          <a:xfrm>
            <a:off x="5394960" y="2432304"/>
            <a:ext cx="3108960" cy="347472"/>
          </a:xfrm>
          <a:prstGeom prst="rect">
            <a:avLst/>
          </a:prstGeom>
          <a:noFill/>
          <a:ln/>
        </p:spPr>
        <p:txBody>
          <a:bodyPr wrap="square" lIns="0" tIns="0" rIns="0" bIns="0" rtlCol="0" anchor="ctr"/>
          <a:lstStyle/>
          <a:p>
            <a:pPr marL="0" indent="0">
              <a:buNone/>
            </a:pPr>
            <a:r>
              <a:rPr lang="en-US" sz="1200" b="1" dirty="0">
                <a:solidFill>
                  <a:srgbClr val="5C1A30"/>
                </a:solidFill>
                <a:latin typeface="Georgia" pitchFamily="34" charset="0"/>
                <a:ea typeface="Georgia" pitchFamily="34" charset="-122"/>
                <a:cs typeface="Georgia" pitchFamily="34" charset="-120"/>
              </a:rPr>
              <a:t>Trazabilidad</a:t>
            </a:r>
            <a:endParaRPr lang="en-US" sz="1200" dirty="0"/>
          </a:p>
        </p:txBody>
      </p:sp>
      <p:sp>
        <p:nvSpPr>
          <p:cNvPr id="18" name="Text 16"/>
          <p:cNvSpPr/>
          <p:nvPr/>
        </p:nvSpPr>
        <p:spPr>
          <a:xfrm>
            <a:off x="4910328" y="2889504"/>
            <a:ext cx="365760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Seguimiento completo del ciclo de cada caso: apertura, actuaciones y cierre.</a:t>
            </a:r>
            <a:endParaRPr lang="en-US" sz="950" dirty="0"/>
          </a:p>
        </p:txBody>
      </p:sp>
      <p:sp>
        <p:nvSpPr>
          <p:cNvPr id="19" name="Shape 17"/>
          <p:cNvSpPr/>
          <p:nvPr/>
        </p:nvSpPr>
        <p:spPr>
          <a:xfrm>
            <a:off x="365760" y="3593592"/>
            <a:ext cx="4069080" cy="117043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20" name="Shape 18"/>
          <p:cNvSpPr/>
          <p:nvPr/>
        </p:nvSpPr>
        <p:spPr>
          <a:xfrm>
            <a:off x="365760" y="3593592"/>
            <a:ext cx="73152" cy="1170432"/>
          </a:xfrm>
          <a:prstGeom prst="rect">
            <a:avLst/>
          </a:prstGeom>
          <a:solidFill>
            <a:srgbClr val="B8952A"/>
          </a:solidFill>
          <a:ln/>
        </p:spPr>
      </p:sp>
      <p:sp>
        <p:nvSpPr>
          <p:cNvPr id="21" name="Text 19"/>
          <p:cNvSpPr/>
          <p:nvPr/>
        </p:nvSpPr>
        <p:spPr>
          <a:xfrm>
            <a:off x="530352" y="3730752"/>
            <a:ext cx="457200" cy="438912"/>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2" name="Text 20"/>
          <p:cNvSpPr/>
          <p:nvPr/>
        </p:nvSpPr>
        <p:spPr>
          <a:xfrm>
            <a:off x="1051560" y="3758184"/>
            <a:ext cx="3108960" cy="347472"/>
          </a:xfrm>
          <a:prstGeom prst="rect">
            <a:avLst/>
          </a:prstGeom>
          <a:noFill/>
          <a:ln/>
        </p:spPr>
        <p:txBody>
          <a:bodyPr wrap="square" lIns="0" tIns="0" rIns="0" bIns="0" rtlCol="0" anchor="ctr"/>
          <a:lstStyle/>
          <a:p>
            <a:pPr marL="0" indent="0">
              <a:buNone/>
            </a:pPr>
            <a:r>
              <a:rPr lang="en-US" sz="1200" b="1" dirty="0">
                <a:solidFill>
                  <a:srgbClr val="5C1A30"/>
                </a:solidFill>
                <a:latin typeface="Georgia" pitchFamily="34" charset="0"/>
                <a:ea typeface="Georgia" pitchFamily="34" charset="-122"/>
                <a:cs typeface="Georgia" pitchFamily="34" charset="-120"/>
              </a:rPr>
              <a:t>Confidencialidad</a:t>
            </a:r>
            <a:endParaRPr lang="en-US" sz="1200" dirty="0"/>
          </a:p>
        </p:txBody>
      </p:sp>
      <p:sp>
        <p:nvSpPr>
          <p:cNvPr id="23" name="Text 21"/>
          <p:cNvSpPr/>
          <p:nvPr/>
        </p:nvSpPr>
        <p:spPr>
          <a:xfrm>
            <a:off x="566928" y="4215384"/>
            <a:ext cx="365760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Gestionar niveles de acceso y clasificación de documentos sensibles del bufete.</a:t>
            </a:r>
            <a:endParaRPr lang="en-US" sz="950" dirty="0"/>
          </a:p>
        </p:txBody>
      </p:sp>
      <p:sp>
        <p:nvSpPr>
          <p:cNvPr id="24" name="Shape 22"/>
          <p:cNvSpPr/>
          <p:nvPr/>
        </p:nvSpPr>
        <p:spPr>
          <a:xfrm>
            <a:off x="4709160" y="3593592"/>
            <a:ext cx="4069080" cy="117043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25" name="Shape 23"/>
          <p:cNvSpPr/>
          <p:nvPr/>
        </p:nvSpPr>
        <p:spPr>
          <a:xfrm>
            <a:off x="4709160" y="3593592"/>
            <a:ext cx="73152" cy="1170432"/>
          </a:xfrm>
          <a:prstGeom prst="rect">
            <a:avLst/>
          </a:prstGeom>
          <a:solidFill>
            <a:srgbClr val="B8952A"/>
          </a:solidFill>
          <a:ln/>
        </p:spPr>
      </p:sp>
      <p:sp>
        <p:nvSpPr>
          <p:cNvPr id="26" name="Text 24"/>
          <p:cNvSpPr/>
          <p:nvPr/>
        </p:nvSpPr>
        <p:spPr>
          <a:xfrm>
            <a:off x="4873752" y="3730752"/>
            <a:ext cx="457200" cy="438912"/>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7" name="Text 25"/>
          <p:cNvSpPr/>
          <p:nvPr/>
        </p:nvSpPr>
        <p:spPr>
          <a:xfrm>
            <a:off x="5394960" y="3758184"/>
            <a:ext cx="3108960" cy="347472"/>
          </a:xfrm>
          <a:prstGeom prst="rect">
            <a:avLst/>
          </a:prstGeom>
          <a:noFill/>
          <a:ln/>
        </p:spPr>
        <p:txBody>
          <a:bodyPr wrap="square" lIns="0" tIns="0" rIns="0" bIns="0" rtlCol="0" anchor="ctr"/>
          <a:lstStyle/>
          <a:p>
            <a:pPr marL="0" indent="0">
              <a:buNone/>
            </a:pPr>
            <a:r>
              <a:rPr lang="en-US" sz="1200" b="1" dirty="0">
                <a:solidFill>
                  <a:srgbClr val="5C1A30"/>
                </a:solidFill>
                <a:latin typeface="Georgia" pitchFamily="34" charset="0"/>
                <a:ea typeface="Georgia" pitchFamily="34" charset="-122"/>
                <a:cs typeface="Georgia" pitchFamily="34" charset="-120"/>
              </a:rPr>
              <a:t>Eficiencia</a:t>
            </a:r>
            <a:endParaRPr lang="en-US" sz="1200" dirty="0"/>
          </a:p>
        </p:txBody>
      </p:sp>
      <p:sp>
        <p:nvSpPr>
          <p:cNvPr id="28" name="Text 26"/>
          <p:cNvSpPr/>
          <p:nvPr/>
        </p:nvSpPr>
        <p:spPr>
          <a:xfrm>
            <a:off x="4910328" y="4215384"/>
            <a:ext cx="365760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Reducir tiempo administrativo con formularios y flujos de trabajo estandarizados.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30"/>
          </a:solidFill>
          <a:ln/>
        </p:spPr>
      </p:sp>
      <p:sp>
        <p:nvSpPr>
          <p:cNvPr id="3" name="Shape 1"/>
          <p:cNvSpPr/>
          <p:nvPr/>
        </p:nvSpPr>
        <p:spPr>
          <a:xfrm>
            <a:off x="0" y="960120"/>
            <a:ext cx="9144000" cy="45720"/>
          </a:xfrm>
          <a:prstGeom prst="rect">
            <a:avLst/>
          </a:prstGeom>
          <a:solidFill>
            <a:srgbClr val="B8952A"/>
          </a:solidFill>
          <a:ln/>
        </p:spPr>
      </p:sp>
      <p:sp>
        <p:nvSpPr>
          <p:cNvPr id="4" name="Text 2"/>
          <p:cNvSpPr/>
          <p:nvPr/>
        </p:nvSpPr>
        <p:spPr>
          <a:xfrm>
            <a:off x="411480" y="118872"/>
            <a:ext cx="832104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Problemática que Resuelve</a:t>
            </a:r>
            <a:endParaRPr lang="en-US" sz="2200" dirty="0"/>
          </a:p>
        </p:txBody>
      </p:sp>
      <p:sp>
        <p:nvSpPr>
          <p:cNvPr id="5" name="Text 3"/>
          <p:cNvSpPr/>
          <p:nvPr/>
        </p:nvSpPr>
        <p:spPr>
          <a:xfrm>
            <a:off x="411480" y="658368"/>
            <a:ext cx="8229600" cy="256032"/>
          </a:xfrm>
          <a:prstGeom prst="rect">
            <a:avLst/>
          </a:prstGeom>
          <a:noFill/>
          <a:ln/>
        </p:spPr>
        <p:txBody>
          <a:bodyPr wrap="square" lIns="0" tIns="0" rIns="0" bIns="0" rtlCol="0" anchor="ctr"/>
          <a:lstStyle/>
          <a:p>
            <a:pPr marL="0" indent="0">
              <a:buNone/>
            </a:pPr>
            <a:r>
              <a:rPr lang="en-US" sz="1050" i="1" dirty="0">
                <a:solidFill>
                  <a:srgbClr val="D4AF37"/>
                </a:solidFill>
                <a:latin typeface="Calibri" pitchFamily="34" charset="0"/>
                <a:ea typeface="Calibri" pitchFamily="34" charset="-122"/>
                <a:cs typeface="Calibri" pitchFamily="34" charset="-120"/>
              </a:rPr>
              <a:t>Situación antes y después de LawFirm</a:t>
            </a:r>
            <a:endParaRPr lang="en-US" sz="1050" dirty="0"/>
          </a:p>
        </p:txBody>
      </p:sp>
      <p:sp>
        <p:nvSpPr>
          <p:cNvPr id="6" name="Shape 4"/>
          <p:cNvSpPr/>
          <p:nvPr/>
        </p:nvSpPr>
        <p:spPr>
          <a:xfrm>
            <a:off x="365760" y="1115568"/>
            <a:ext cx="4023360" cy="420624"/>
          </a:xfrm>
          <a:prstGeom prst="rect">
            <a:avLst/>
          </a:prstGeom>
          <a:solidFill>
            <a:srgbClr val="7B1D1D"/>
          </a:solidFill>
          <a:ln/>
        </p:spPr>
      </p:sp>
      <p:sp>
        <p:nvSpPr>
          <p:cNvPr id="7" name="Text 5"/>
          <p:cNvSpPr/>
          <p:nvPr/>
        </p:nvSpPr>
        <p:spPr>
          <a:xfrm>
            <a:off x="457200" y="1143000"/>
            <a:ext cx="3840480" cy="347472"/>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  Sin el Sistema</a:t>
            </a:r>
            <a:endParaRPr lang="en-US" sz="1200" dirty="0"/>
          </a:p>
        </p:txBody>
      </p:sp>
      <p:sp>
        <p:nvSpPr>
          <p:cNvPr id="8" name="Shape 6"/>
          <p:cNvSpPr/>
          <p:nvPr/>
        </p:nvSpPr>
        <p:spPr>
          <a:xfrm>
            <a:off x="365760" y="1536192"/>
            <a:ext cx="4023360" cy="3337560"/>
          </a:xfrm>
          <a:prstGeom prst="rect">
            <a:avLst/>
          </a:prstGeom>
          <a:solidFill>
            <a:srgbClr val="FFFFFF"/>
          </a:solidFill>
          <a:ln/>
          <a:effectLst>
            <a:outerShdw blurRad="88900" dist="38100" dir="8100000" algn="bl" rotWithShape="0">
              <a:srgbClr val="000000">
                <a:alpha val="14000"/>
              </a:srgbClr>
            </a:outerShdw>
          </a:effectLst>
        </p:spPr>
      </p:sp>
      <p:sp>
        <p:nvSpPr>
          <p:cNvPr id="9" name="Shape 7"/>
          <p:cNvSpPr/>
          <p:nvPr/>
        </p:nvSpPr>
        <p:spPr>
          <a:xfrm>
            <a:off x="512064" y="1691640"/>
            <a:ext cx="182880" cy="182880"/>
          </a:xfrm>
          <a:prstGeom prst="ellipse">
            <a:avLst/>
          </a:prstGeom>
          <a:solidFill>
            <a:srgbClr val="7B1D1D"/>
          </a:solidFill>
          <a:ln/>
        </p:spPr>
      </p:sp>
      <p:sp>
        <p:nvSpPr>
          <p:cNvPr id="10" name="Text 8"/>
          <p:cNvSpPr/>
          <p:nvPr/>
        </p:nvSpPr>
        <p:spPr>
          <a:xfrm>
            <a:off x="768096" y="166420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Expedientes físicos sin indexación ni control de versiones de documentos</a:t>
            </a:r>
            <a:endParaRPr lang="en-US" sz="950" dirty="0"/>
          </a:p>
        </p:txBody>
      </p:sp>
      <p:sp>
        <p:nvSpPr>
          <p:cNvPr id="11" name="Shape 9"/>
          <p:cNvSpPr/>
          <p:nvPr/>
        </p:nvSpPr>
        <p:spPr>
          <a:xfrm>
            <a:off x="512064" y="2194560"/>
            <a:ext cx="182880" cy="182880"/>
          </a:xfrm>
          <a:prstGeom prst="ellipse">
            <a:avLst/>
          </a:prstGeom>
          <a:solidFill>
            <a:srgbClr val="7B1D1D"/>
          </a:solidFill>
          <a:ln/>
        </p:spPr>
      </p:sp>
      <p:sp>
        <p:nvSpPr>
          <p:cNvPr id="12" name="Text 10"/>
          <p:cNvSpPr/>
          <p:nvPr/>
        </p:nvSpPr>
        <p:spPr>
          <a:xfrm>
            <a:off x="768096" y="216712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Sin trazabilidad entre casos, actuaciones procesales y facturación</a:t>
            </a:r>
            <a:endParaRPr lang="en-US" sz="950" dirty="0"/>
          </a:p>
        </p:txBody>
      </p:sp>
      <p:sp>
        <p:nvSpPr>
          <p:cNvPr id="13" name="Shape 11"/>
          <p:cNvSpPr/>
          <p:nvPr/>
        </p:nvSpPr>
        <p:spPr>
          <a:xfrm>
            <a:off x="512064" y="2697480"/>
            <a:ext cx="182880" cy="182880"/>
          </a:xfrm>
          <a:prstGeom prst="ellipse">
            <a:avLst/>
          </a:prstGeom>
          <a:solidFill>
            <a:srgbClr val="7B1D1D"/>
          </a:solidFill>
          <a:ln/>
        </p:spPr>
      </p:sp>
      <p:sp>
        <p:nvSpPr>
          <p:cNvPr id="14" name="Text 12"/>
          <p:cNvSpPr/>
          <p:nvPr/>
        </p:nvSpPr>
        <p:spPr>
          <a:xfrm>
            <a:off x="768096" y="267004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Agenda de audiencias y citas coordinada por canales informales</a:t>
            </a:r>
            <a:endParaRPr lang="en-US" sz="950" dirty="0"/>
          </a:p>
        </p:txBody>
      </p:sp>
      <p:sp>
        <p:nvSpPr>
          <p:cNvPr id="15" name="Shape 13"/>
          <p:cNvSpPr/>
          <p:nvPr/>
        </p:nvSpPr>
        <p:spPr>
          <a:xfrm>
            <a:off x="512064" y="3200400"/>
            <a:ext cx="182880" cy="182880"/>
          </a:xfrm>
          <a:prstGeom prst="ellipse">
            <a:avLst/>
          </a:prstGeom>
          <a:solidFill>
            <a:srgbClr val="7B1D1D"/>
          </a:solidFill>
          <a:ln/>
        </p:spPr>
      </p:sp>
      <p:sp>
        <p:nvSpPr>
          <p:cNvPr id="16" name="Text 14"/>
          <p:cNvSpPr/>
          <p:nvPr/>
        </p:nvSpPr>
        <p:spPr>
          <a:xfrm>
            <a:off x="768096" y="317296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Sin registro de precedentes legales vinculados a casos activos</a:t>
            </a:r>
            <a:endParaRPr lang="en-US" sz="950" dirty="0"/>
          </a:p>
        </p:txBody>
      </p:sp>
      <p:sp>
        <p:nvSpPr>
          <p:cNvPr id="17" name="Shape 15"/>
          <p:cNvSpPr/>
          <p:nvPr/>
        </p:nvSpPr>
        <p:spPr>
          <a:xfrm>
            <a:off x="512064" y="3703320"/>
            <a:ext cx="182880" cy="182880"/>
          </a:xfrm>
          <a:prstGeom prst="ellipse">
            <a:avLst/>
          </a:prstGeom>
          <a:solidFill>
            <a:srgbClr val="7B1D1D"/>
          </a:solidFill>
          <a:ln/>
        </p:spPr>
      </p:sp>
      <p:sp>
        <p:nvSpPr>
          <p:cNvPr id="18" name="Text 16"/>
          <p:cNvSpPr/>
          <p:nvPr/>
        </p:nvSpPr>
        <p:spPr>
          <a:xfrm>
            <a:off x="768096" y="367588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Biblioteca jurídica sin inventario digital ni control de préstamos</a:t>
            </a:r>
            <a:endParaRPr lang="en-US" sz="950" dirty="0"/>
          </a:p>
        </p:txBody>
      </p:sp>
      <p:sp>
        <p:nvSpPr>
          <p:cNvPr id="19" name="Shape 17"/>
          <p:cNvSpPr/>
          <p:nvPr/>
        </p:nvSpPr>
        <p:spPr>
          <a:xfrm>
            <a:off x="512064" y="4206240"/>
            <a:ext cx="182880" cy="182880"/>
          </a:xfrm>
          <a:prstGeom prst="ellipse">
            <a:avLst/>
          </a:prstGeom>
          <a:solidFill>
            <a:srgbClr val="7B1D1D"/>
          </a:solidFill>
          <a:ln/>
        </p:spPr>
      </p:sp>
      <p:sp>
        <p:nvSpPr>
          <p:cNvPr id="20" name="Text 18"/>
          <p:cNvSpPr/>
          <p:nvPr/>
        </p:nvSpPr>
        <p:spPr>
          <a:xfrm>
            <a:off x="768096" y="417880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Facturación manual sin desglose de horas por abogado y caso</a:t>
            </a:r>
            <a:endParaRPr lang="en-US" sz="950" dirty="0"/>
          </a:p>
        </p:txBody>
      </p:sp>
      <p:sp>
        <p:nvSpPr>
          <p:cNvPr id="21" name="Shape 19"/>
          <p:cNvSpPr/>
          <p:nvPr/>
        </p:nvSpPr>
        <p:spPr>
          <a:xfrm>
            <a:off x="4754880" y="1115568"/>
            <a:ext cx="4023360" cy="420624"/>
          </a:xfrm>
          <a:prstGeom prst="rect">
            <a:avLst/>
          </a:prstGeom>
          <a:solidFill>
            <a:srgbClr val="5C1A30"/>
          </a:solidFill>
          <a:ln/>
        </p:spPr>
      </p:sp>
      <p:sp>
        <p:nvSpPr>
          <p:cNvPr id="22" name="Text 20"/>
          <p:cNvSpPr/>
          <p:nvPr/>
        </p:nvSpPr>
        <p:spPr>
          <a:xfrm>
            <a:off x="4846320" y="1143000"/>
            <a:ext cx="3840480" cy="347472"/>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  Con LawFirm</a:t>
            </a:r>
            <a:endParaRPr lang="en-US" sz="1200" dirty="0"/>
          </a:p>
        </p:txBody>
      </p:sp>
      <p:sp>
        <p:nvSpPr>
          <p:cNvPr id="23" name="Shape 21"/>
          <p:cNvSpPr/>
          <p:nvPr/>
        </p:nvSpPr>
        <p:spPr>
          <a:xfrm>
            <a:off x="4754880" y="1536192"/>
            <a:ext cx="4023360" cy="3337560"/>
          </a:xfrm>
          <a:prstGeom prst="rect">
            <a:avLst/>
          </a:prstGeom>
          <a:solidFill>
            <a:srgbClr val="FFFFFF"/>
          </a:solidFill>
          <a:ln/>
          <a:effectLst>
            <a:outerShdw blurRad="88900" dist="38100" dir="8100000" algn="bl" rotWithShape="0">
              <a:srgbClr val="000000">
                <a:alpha val="14000"/>
              </a:srgbClr>
            </a:outerShdw>
          </a:effectLst>
        </p:spPr>
      </p:sp>
      <p:sp>
        <p:nvSpPr>
          <p:cNvPr id="24" name="Shape 22"/>
          <p:cNvSpPr/>
          <p:nvPr/>
        </p:nvSpPr>
        <p:spPr>
          <a:xfrm>
            <a:off x="4901184" y="1691640"/>
            <a:ext cx="182880" cy="182880"/>
          </a:xfrm>
          <a:prstGeom prst="ellipse">
            <a:avLst/>
          </a:prstGeom>
          <a:solidFill>
            <a:srgbClr val="B8952A"/>
          </a:solidFill>
          <a:ln/>
        </p:spPr>
      </p:sp>
      <p:sp>
        <p:nvSpPr>
          <p:cNvPr id="25" name="Text 23"/>
          <p:cNvSpPr/>
          <p:nvPr/>
        </p:nvSpPr>
        <p:spPr>
          <a:xfrm>
            <a:off x="5157216" y="166420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Repositorio digital con versiones, estado y nivel de confidencialidad</a:t>
            </a:r>
            <a:endParaRPr lang="en-US" sz="950" dirty="0"/>
          </a:p>
        </p:txBody>
      </p:sp>
      <p:sp>
        <p:nvSpPr>
          <p:cNvPr id="26" name="Shape 24"/>
          <p:cNvSpPr/>
          <p:nvPr/>
        </p:nvSpPr>
        <p:spPr>
          <a:xfrm>
            <a:off x="4901184" y="2194560"/>
            <a:ext cx="182880" cy="182880"/>
          </a:xfrm>
          <a:prstGeom prst="ellipse">
            <a:avLst/>
          </a:prstGeom>
          <a:solidFill>
            <a:srgbClr val="B8952A"/>
          </a:solidFill>
          <a:ln/>
        </p:spPr>
      </p:sp>
      <p:sp>
        <p:nvSpPr>
          <p:cNvPr id="27" name="Text 25"/>
          <p:cNvSpPr/>
          <p:nvPr/>
        </p:nvSpPr>
        <p:spPr>
          <a:xfrm>
            <a:off x="5157216" y="216712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Flujo integrado: caso → actuación → documento → audiencia → factura</a:t>
            </a:r>
            <a:endParaRPr lang="en-US" sz="950" dirty="0"/>
          </a:p>
        </p:txBody>
      </p:sp>
      <p:sp>
        <p:nvSpPr>
          <p:cNvPr id="28" name="Shape 26"/>
          <p:cNvSpPr/>
          <p:nvPr/>
        </p:nvSpPr>
        <p:spPr>
          <a:xfrm>
            <a:off x="4901184" y="2697480"/>
            <a:ext cx="182880" cy="182880"/>
          </a:xfrm>
          <a:prstGeom prst="ellipse">
            <a:avLst/>
          </a:prstGeom>
          <a:solidFill>
            <a:srgbClr val="B8952A"/>
          </a:solidFill>
          <a:ln/>
        </p:spPr>
      </p:sp>
      <p:sp>
        <p:nvSpPr>
          <p:cNvPr id="29" name="Text 27"/>
          <p:cNvSpPr/>
          <p:nvPr/>
        </p:nvSpPr>
        <p:spPr>
          <a:xfrm>
            <a:off x="5157216" y="267004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Módulo de citas con participantes internos, materiales y resultado real</a:t>
            </a:r>
            <a:endParaRPr lang="en-US" sz="950" dirty="0"/>
          </a:p>
        </p:txBody>
      </p:sp>
      <p:sp>
        <p:nvSpPr>
          <p:cNvPr id="30" name="Shape 28"/>
          <p:cNvSpPr/>
          <p:nvPr/>
        </p:nvSpPr>
        <p:spPr>
          <a:xfrm>
            <a:off x="4901184" y="3200400"/>
            <a:ext cx="182880" cy="182880"/>
          </a:xfrm>
          <a:prstGeom prst="ellipse">
            <a:avLst/>
          </a:prstGeom>
          <a:solidFill>
            <a:srgbClr val="B8952A"/>
          </a:solidFill>
          <a:ln/>
        </p:spPr>
      </p:sp>
      <p:sp>
        <p:nvSpPr>
          <p:cNvPr id="31" name="Text 29"/>
          <p:cNvSpPr/>
          <p:nvPr/>
        </p:nvSpPr>
        <p:spPr>
          <a:xfrm>
            <a:off x="5157216" y="317296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Base de precedentes con jurisprudencia y aplicabilidad a casos actuales</a:t>
            </a:r>
            <a:endParaRPr lang="en-US" sz="950" dirty="0"/>
          </a:p>
        </p:txBody>
      </p:sp>
      <p:sp>
        <p:nvSpPr>
          <p:cNvPr id="32" name="Shape 30"/>
          <p:cNvSpPr/>
          <p:nvPr/>
        </p:nvSpPr>
        <p:spPr>
          <a:xfrm>
            <a:off x="4901184" y="3703320"/>
            <a:ext cx="182880" cy="182880"/>
          </a:xfrm>
          <a:prstGeom prst="ellipse">
            <a:avLst/>
          </a:prstGeom>
          <a:solidFill>
            <a:srgbClr val="B8952A"/>
          </a:solidFill>
          <a:ln/>
        </p:spPr>
      </p:sp>
      <p:sp>
        <p:nvSpPr>
          <p:cNvPr id="33" name="Text 31"/>
          <p:cNvSpPr/>
          <p:nvPr/>
        </p:nvSpPr>
        <p:spPr>
          <a:xfrm>
            <a:off x="5157216" y="367588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Biblioteca con código, formato, préstamos realizados y disponibilidad</a:t>
            </a:r>
            <a:endParaRPr lang="en-US" sz="950" dirty="0"/>
          </a:p>
        </p:txBody>
      </p:sp>
      <p:sp>
        <p:nvSpPr>
          <p:cNvPr id="34" name="Shape 32"/>
          <p:cNvSpPr/>
          <p:nvPr/>
        </p:nvSpPr>
        <p:spPr>
          <a:xfrm>
            <a:off x="4901184" y="4206240"/>
            <a:ext cx="182880" cy="182880"/>
          </a:xfrm>
          <a:prstGeom prst="ellipse">
            <a:avLst/>
          </a:prstGeom>
          <a:solidFill>
            <a:srgbClr val="B8952A"/>
          </a:solidFill>
          <a:ln/>
        </p:spPr>
      </p:sp>
      <p:sp>
        <p:nvSpPr>
          <p:cNvPr id="35" name="Text 33"/>
          <p:cNvSpPr/>
          <p:nvPr/>
        </p:nvSpPr>
        <p:spPr>
          <a:xfrm>
            <a:off x="5157216" y="4178808"/>
            <a:ext cx="3429000" cy="38404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Facturación con horas por abogado, tarifa, gastos y estado de pago</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30"/>
          </a:solidFill>
          <a:ln/>
        </p:spPr>
      </p:sp>
      <p:sp>
        <p:nvSpPr>
          <p:cNvPr id="3" name="Shape 1"/>
          <p:cNvSpPr/>
          <p:nvPr/>
        </p:nvSpPr>
        <p:spPr>
          <a:xfrm>
            <a:off x="0" y="960120"/>
            <a:ext cx="9144000" cy="45720"/>
          </a:xfrm>
          <a:prstGeom prst="rect">
            <a:avLst/>
          </a:prstGeom>
          <a:solidFill>
            <a:srgbClr val="B8952A"/>
          </a:solidFill>
          <a:ln/>
        </p:spPr>
      </p:sp>
      <p:sp>
        <p:nvSpPr>
          <p:cNvPr id="4" name="Text 2"/>
          <p:cNvSpPr/>
          <p:nvPr/>
        </p:nvSpPr>
        <p:spPr>
          <a:xfrm>
            <a:off x="411480" y="118872"/>
            <a:ext cx="832104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Módulos del Sistema LawFirm</a:t>
            </a:r>
            <a:endParaRPr lang="en-US" sz="2200" dirty="0"/>
          </a:p>
        </p:txBody>
      </p:sp>
      <p:sp>
        <p:nvSpPr>
          <p:cNvPr id="5" name="Text 3"/>
          <p:cNvSpPr/>
          <p:nvPr/>
        </p:nvSpPr>
        <p:spPr>
          <a:xfrm>
            <a:off x="411480" y="658368"/>
            <a:ext cx="8229600" cy="256032"/>
          </a:xfrm>
          <a:prstGeom prst="rect">
            <a:avLst/>
          </a:prstGeom>
          <a:noFill/>
          <a:ln/>
        </p:spPr>
        <p:txBody>
          <a:bodyPr wrap="square" lIns="0" tIns="0" rIns="0" bIns="0" rtlCol="0" anchor="ctr"/>
          <a:lstStyle/>
          <a:p>
            <a:pPr marL="0" indent="0">
              <a:buNone/>
            </a:pPr>
            <a:r>
              <a:rPr lang="en-US" sz="1050" i="1" dirty="0">
                <a:solidFill>
                  <a:srgbClr val="D4AF37"/>
                </a:solidFill>
                <a:latin typeface="Calibri" pitchFamily="34" charset="0"/>
                <a:ea typeface="Calibri" pitchFamily="34" charset="-122"/>
                <a:cs typeface="Calibri" pitchFamily="34" charset="-120"/>
              </a:rPr>
              <a:t>10 módulos integrados para la gestión legal completa</a:t>
            </a:r>
            <a:endParaRPr lang="en-US" sz="1050" dirty="0"/>
          </a:p>
        </p:txBody>
      </p:sp>
      <p:sp>
        <p:nvSpPr>
          <p:cNvPr id="6" name="Shape 4"/>
          <p:cNvSpPr/>
          <p:nvPr/>
        </p:nvSpPr>
        <p:spPr>
          <a:xfrm>
            <a:off x="201168" y="111556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7" name="Shape 5"/>
          <p:cNvSpPr/>
          <p:nvPr/>
        </p:nvSpPr>
        <p:spPr>
          <a:xfrm>
            <a:off x="201168" y="1115568"/>
            <a:ext cx="1609344" cy="45720"/>
          </a:xfrm>
          <a:prstGeom prst="rect">
            <a:avLst/>
          </a:prstGeom>
          <a:solidFill>
            <a:srgbClr val="5C1A30"/>
          </a:solidFill>
          <a:ln/>
        </p:spPr>
      </p:sp>
      <p:sp>
        <p:nvSpPr>
          <p:cNvPr id="8" name="Shape 6"/>
          <p:cNvSpPr/>
          <p:nvPr/>
        </p:nvSpPr>
        <p:spPr>
          <a:xfrm>
            <a:off x="201168" y="1115568"/>
            <a:ext cx="54864" cy="1719072"/>
          </a:xfrm>
          <a:prstGeom prst="rect">
            <a:avLst/>
          </a:prstGeom>
          <a:solidFill>
            <a:srgbClr val="5C1A30"/>
          </a:solidFill>
          <a:ln/>
        </p:spPr>
      </p:sp>
      <p:sp>
        <p:nvSpPr>
          <p:cNvPr id="9" name="Text 7"/>
          <p:cNvSpPr/>
          <p:nvPr/>
        </p:nvSpPr>
        <p:spPr>
          <a:xfrm>
            <a:off x="292608" y="120700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0" name="Text 8"/>
          <p:cNvSpPr/>
          <p:nvPr/>
        </p:nvSpPr>
        <p:spPr>
          <a:xfrm>
            <a:off x="310896" y="170992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Clientes</a:t>
            </a:r>
            <a:endParaRPr lang="en-US" sz="1050" dirty="0"/>
          </a:p>
        </p:txBody>
      </p:sp>
      <p:sp>
        <p:nvSpPr>
          <p:cNvPr id="11" name="Text 9"/>
          <p:cNvSpPr/>
          <p:nvPr/>
        </p:nvSpPr>
        <p:spPr>
          <a:xfrm>
            <a:off x="310896" y="204825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Tipo, documento, correo, sector y clasificación interna</a:t>
            </a:r>
            <a:endParaRPr lang="en-US" sz="750" dirty="0"/>
          </a:p>
        </p:txBody>
      </p:sp>
      <p:sp>
        <p:nvSpPr>
          <p:cNvPr id="12" name="Shape 10"/>
          <p:cNvSpPr/>
          <p:nvPr/>
        </p:nvSpPr>
        <p:spPr>
          <a:xfrm>
            <a:off x="1956816" y="111556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3" name="Shape 11"/>
          <p:cNvSpPr/>
          <p:nvPr/>
        </p:nvSpPr>
        <p:spPr>
          <a:xfrm>
            <a:off x="1956816" y="1115568"/>
            <a:ext cx="1609344" cy="45720"/>
          </a:xfrm>
          <a:prstGeom prst="rect">
            <a:avLst/>
          </a:prstGeom>
          <a:solidFill>
            <a:srgbClr val="8B2942"/>
          </a:solidFill>
          <a:ln/>
        </p:spPr>
      </p:sp>
      <p:sp>
        <p:nvSpPr>
          <p:cNvPr id="14" name="Shape 12"/>
          <p:cNvSpPr/>
          <p:nvPr/>
        </p:nvSpPr>
        <p:spPr>
          <a:xfrm>
            <a:off x="1956816" y="1115568"/>
            <a:ext cx="54864" cy="1719072"/>
          </a:xfrm>
          <a:prstGeom prst="rect">
            <a:avLst/>
          </a:prstGeom>
          <a:solidFill>
            <a:srgbClr val="8B2942"/>
          </a:solidFill>
          <a:ln/>
        </p:spPr>
      </p:sp>
      <p:sp>
        <p:nvSpPr>
          <p:cNvPr id="15" name="Text 13"/>
          <p:cNvSpPr/>
          <p:nvPr/>
        </p:nvSpPr>
        <p:spPr>
          <a:xfrm>
            <a:off x="2048256" y="120700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6" name="Text 14"/>
          <p:cNvSpPr/>
          <p:nvPr/>
        </p:nvSpPr>
        <p:spPr>
          <a:xfrm>
            <a:off x="2066544" y="170992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Abogados</a:t>
            </a:r>
            <a:endParaRPr lang="en-US" sz="1050" dirty="0"/>
          </a:p>
        </p:txBody>
      </p:sp>
      <p:sp>
        <p:nvSpPr>
          <p:cNvPr id="17" name="Text 15"/>
          <p:cNvSpPr/>
          <p:nvPr/>
        </p:nvSpPr>
        <p:spPr>
          <a:xfrm>
            <a:off x="2066544" y="204825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Colegiatura, especialidad, tarifa por hora y disponibilidad</a:t>
            </a:r>
            <a:endParaRPr lang="en-US" sz="750" dirty="0"/>
          </a:p>
        </p:txBody>
      </p:sp>
      <p:sp>
        <p:nvSpPr>
          <p:cNvPr id="18" name="Shape 16"/>
          <p:cNvSpPr/>
          <p:nvPr/>
        </p:nvSpPr>
        <p:spPr>
          <a:xfrm>
            <a:off x="3712464" y="111556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9" name="Shape 17"/>
          <p:cNvSpPr/>
          <p:nvPr/>
        </p:nvSpPr>
        <p:spPr>
          <a:xfrm>
            <a:off x="3712464" y="1115568"/>
            <a:ext cx="1609344" cy="45720"/>
          </a:xfrm>
          <a:prstGeom prst="rect">
            <a:avLst/>
          </a:prstGeom>
          <a:solidFill>
            <a:srgbClr val="B8952A"/>
          </a:solidFill>
          <a:ln/>
        </p:spPr>
      </p:sp>
      <p:sp>
        <p:nvSpPr>
          <p:cNvPr id="20" name="Shape 18"/>
          <p:cNvSpPr/>
          <p:nvPr/>
        </p:nvSpPr>
        <p:spPr>
          <a:xfrm>
            <a:off x="3712464" y="1115568"/>
            <a:ext cx="54864" cy="1719072"/>
          </a:xfrm>
          <a:prstGeom prst="rect">
            <a:avLst/>
          </a:prstGeom>
          <a:solidFill>
            <a:srgbClr val="B8952A"/>
          </a:solidFill>
          <a:ln/>
        </p:spPr>
      </p:sp>
      <p:sp>
        <p:nvSpPr>
          <p:cNvPr id="21" name="Text 19"/>
          <p:cNvSpPr/>
          <p:nvPr/>
        </p:nvSpPr>
        <p:spPr>
          <a:xfrm>
            <a:off x="3803904" y="120700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2" name="Text 20"/>
          <p:cNvSpPr/>
          <p:nvPr/>
        </p:nvSpPr>
        <p:spPr>
          <a:xfrm>
            <a:off x="3822192" y="170992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Casos</a:t>
            </a:r>
            <a:endParaRPr lang="en-US" sz="1050" dirty="0"/>
          </a:p>
        </p:txBody>
      </p:sp>
      <p:sp>
        <p:nvSpPr>
          <p:cNvPr id="23" name="Text 21"/>
          <p:cNvSpPr/>
          <p:nvPr/>
        </p:nvSpPr>
        <p:spPr>
          <a:xfrm>
            <a:off x="3822192" y="204825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Número único, rama del derecho, estado y abogado principal</a:t>
            </a:r>
            <a:endParaRPr lang="en-US" sz="750" dirty="0"/>
          </a:p>
        </p:txBody>
      </p:sp>
      <p:sp>
        <p:nvSpPr>
          <p:cNvPr id="24" name="Shape 22"/>
          <p:cNvSpPr/>
          <p:nvPr/>
        </p:nvSpPr>
        <p:spPr>
          <a:xfrm>
            <a:off x="5468112" y="111556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25" name="Shape 23"/>
          <p:cNvSpPr/>
          <p:nvPr/>
        </p:nvSpPr>
        <p:spPr>
          <a:xfrm>
            <a:off x="5468112" y="1115568"/>
            <a:ext cx="1609344" cy="45720"/>
          </a:xfrm>
          <a:prstGeom prst="rect">
            <a:avLst/>
          </a:prstGeom>
          <a:solidFill>
            <a:srgbClr val="5C4033"/>
          </a:solidFill>
          <a:ln/>
        </p:spPr>
      </p:sp>
      <p:sp>
        <p:nvSpPr>
          <p:cNvPr id="26" name="Shape 24"/>
          <p:cNvSpPr/>
          <p:nvPr/>
        </p:nvSpPr>
        <p:spPr>
          <a:xfrm>
            <a:off x="5468112" y="1115568"/>
            <a:ext cx="54864" cy="1719072"/>
          </a:xfrm>
          <a:prstGeom prst="rect">
            <a:avLst/>
          </a:prstGeom>
          <a:solidFill>
            <a:srgbClr val="5C4033"/>
          </a:solidFill>
          <a:ln/>
        </p:spPr>
      </p:sp>
      <p:sp>
        <p:nvSpPr>
          <p:cNvPr id="27" name="Text 25"/>
          <p:cNvSpPr/>
          <p:nvPr/>
        </p:nvSpPr>
        <p:spPr>
          <a:xfrm>
            <a:off x="5559552" y="120700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8" name="Text 26"/>
          <p:cNvSpPr/>
          <p:nvPr/>
        </p:nvSpPr>
        <p:spPr>
          <a:xfrm>
            <a:off x="5577840" y="170992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Actuaciones</a:t>
            </a:r>
            <a:endParaRPr lang="en-US" sz="1050" dirty="0"/>
          </a:p>
        </p:txBody>
      </p:sp>
      <p:sp>
        <p:nvSpPr>
          <p:cNvPr id="29" name="Text 27"/>
          <p:cNvSpPr/>
          <p:nvPr/>
        </p:nvSpPr>
        <p:spPr>
          <a:xfrm>
            <a:off x="5577840" y="204825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Tipo de actuación, fecha, resultado y siguiente paso recomendado</a:t>
            </a:r>
            <a:endParaRPr lang="en-US" sz="750" dirty="0"/>
          </a:p>
        </p:txBody>
      </p:sp>
      <p:sp>
        <p:nvSpPr>
          <p:cNvPr id="30" name="Shape 28"/>
          <p:cNvSpPr/>
          <p:nvPr/>
        </p:nvSpPr>
        <p:spPr>
          <a:xfrm>
            <a:off x="7223760" y="111556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31" name="Shape 29"/>
          <p:cNvSpPr/>
          <p:nvPr/>
        </p:nvSpPr>
        <p:spPr>
          <a:xfrm>
            <a:off x="7223760" y="1115568"/>
            <a:ext cx="1609344" cy="45720"/>
          </a:xfrm>
          <a:prstGeom prst="rect">
            <a:avLst/>
          </a:prstGeom>
          <a:solidFill>
            <a:srgbClr val="2E4057"/>
          </a:solidFill>
          <a:ln/>
        </p:spPr>
      </p:sp>
      <p:sp>
        <p:nvSpPr>
          <p:cNvPr id="32" name="Shape 30"/>
          <p:cNvSpPr/>
          <p:nvPr/>
        </p:nvSpPr>
        <p:spPr>
          <a:xfrm>
            <a:off x="7223760" y="1115568"/>
            <a:ext cx="54864" cy="1719072"/>
          </a:xfrm>
          <a:prstGeom prst="rect">
            <a:avLst/>
          </a:prstGeom>
          <a:solidFill>
            <a:srgbClr val="2E4057"/>
          </a:solidFill>
          <a:ln/>
        </p:spPr>
      </p:sp>
      <p:sp>
        <p:nvSpPr>
          <p:cNvPr id="33" name="Text 31"/>
          <p:cNvSpPr/>
          <p:nvPr/>
        </p:nvSpPr>
        <p:spPr>
          <a:xfrm>
            <a:off x="7315200" y="120700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4" name="Text 32"/>
          <p:cNvSpPr/>
          <p:nvPr/>
        </p:nvSpPr>
        <p:spPr>
          <a:xfrm>
            <a:off x="7333488" y="170992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Documentos</a:t>
            </a:r>
            <a:endParaRPr lang="en-US" sz="1050" dirty="0"/>
          </a:p>
        </p:txBody>
      </p:sp>
      <p:sp>
        <p:nvSpPr>
          <p:cNvPr id="35" name="Text 33"/>
          <p:cNvSpPr/>
          <p:nvPr/>
        </p:nvSpPr>
        <p:spPr>
          <a:xfrm>
            <a:off x="7333488" y="204825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Tipo, versión, estado y nivel de confidencialidad</a:t>
            </a:r>
            <a:endParaRPr lang="en-US" sz="750" dirty="0"/>
          </a:p>
        </p:txBody>
      </p:sp>
      <p:sp>
        <p:nvSpPr>
          <p:cNvPr id="36" name="Shape 34"/>
          <p:cNvSpPr/>
          <p:nvPr/>
        </p:nvSpPr>
        <p:spPr>
          <a:xfrm>
            <a:off x="201168" y="299008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37" name="Shape 35"/>
          <p:cNvSpPr/>
          <p:nvPr/>
        </p:nvSpPr>
        <p:spPr>
          <a:xfrm>
            <a:off x="201168" y="2990088"/>
            <a:ext cx="1609344" cy="45720"/>
          </a:xfrm>
          <a:prstGeom prst="rect">
            <a:avLst/>
          </a:prstGeom>
          <a:solidFill>
            <a:srgbClr val="3A5A40"/>
          </a:solidFill>
          <a:ln/>
        </p:spPr>
      </p:sp>
      <p:sp>
        <p:nvSpPr>
          <p:cNvPr id="38" name="Shape 36"/>
          <p:cNvSpPr/>
          <p:nvPr/>
        </p:nvSpPr>
        <p:spPr>
          <a:xfrm>
            <a:off x="201168" y="2990088"/>
            <a:ext cx="54864" cy="1719072"/>
          </a:xfrm>
          <a:prstGeom prst="rect">
            <a:avLst/>
          </a:prstGeom>
          <a:solidFill>
            <a:srgbClr val="3A5A40"/>
          </a:solidFill>
          <a:ln/>
        </p:spPr>
      </p:sp>
      <p:sp>
        <p:nvSpPr>
          <p:cNvPr id="39" name="Text 37"/>
          <p:cNvSpPr/>
          <p:nvPr/>
        </p:nvSpPr>
        <p:spPr>
          <a:xfrm>
            <a:off x="292608" y="308152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40" name="Text 38"/>
          <p:cNvSpPr/>
          <p:nvPr/>
        </p:nvSpPr>
        <p:spPr>
          <a:xfrm>
            <a:off x="310896" y="358444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Audiencias</a:t>
            </a:r>
            <a:endParaRPr lang="en-US" sz="1050" dirty="0"/>
          </a:p>
        </p:txBody>
      </p:sp>
      <p:sp>
        <p:nvSpPr>
          <p:cNvPr id="41" name="Text 39"/>
          <p:cNvSpPr/>
          <p:nvPr/>
        </p:nvSpPr>
        <p:spPr>
          <a:xfrm>
            <a:off x="310896" y="392277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Tipo, participantes, materiales y resultado real vs. esperado</a:t>
            </a:r>
            <a:endParaRPr lang="en-US" sz="750" dirty="0"/>
          </a:p>
        </p:txBody>
      </p:sp>
      <p:sp>
        <p:nvSpPr>
          <p:cNvPr id="42" name="Shape 40"/>
          <p:cNvSpPr/>
          <p:nvPr/>
        </p:nvSpPr>
        <p:spPr>
          <a:xfrm>
            <a:off x="1956816" y="299008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43" name="Shape 41"/>
          <p:cNvSpPr/>
          <p:nvPr/>
        </p:nvSpPr>
        <p:spPr>
          <a:xfrm>
            <a:off x="1956816" y="2990088"/>
            <a:ext cx="1609344" cy="45720"/>
          </a:xfrm>
          <a:prstGeom prst="rect">
            <a:avLst/>
          </a:prstGeom>
          <a:solidFill>
            <a:srgbClr val="7B3F00"/>
          </a:solidFill>
          <a:ln/>
        </p:spPr>
      </p:sp>
      <p:sp>
        <p:nvSpPr>
          <p:cNvPr id="44" name="Shape 42"/>
          <p:cNvSpPr/>
          <p:nvPr/>
        </p:nvSpPr>
        <p:spPr>
          <a:xfrm>
            <a:off x="1956816" y="2990088"/>
            <a:ext cx="54864" cy="1719072"/>
          </a:xfrm>
          <a:prstGeom prst="rect">
            <a:avLst/>
          </a:prstGeom>
          <a:solidFill>
            <a:srgbClr val="7B3F00"/>
          </a:solidFill>
          <a:ln/>
        </p:spPr>
      </p:sp>
      <p:sp>
        <p:nvSpPr>
          <p:cNvPr id="45" name="Text 43"/>
          <p:cNvSpPr/>
          <p:nvPr/>
        </p:nvSpPr>
        <p:spPr>
          <a:xfrm>
            <a:off x="2048256" y="308152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46" name="Text 44"/>
          <p:cNvSpPr/>
          <p:nvPr/>
        </p:nvSpPr>
        <p:spPr>
          <a:xfrm>
            <a:off x="2066544" y="358444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Facturación</a:t>
            </a:r>
            <a:endParaRPr lang="en-US" sz="1050" dirty="0"/>
          </a:p>
        </p:txBody>
      </p:sp>
      <p:sp>
        <p:nvSpPr>
          <p:cNvPr id="47" name="Text 45"/>
          <p:cNvSpPr/>
          <p:nvPr/>
        </p:nvSpPr>
        <p:spPr>
          <a:xfrm>
            <a:off x="2066544" y="392277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Horas por abogado, tarifa, gastos reembolsables y estado de pago</a:t>
            </a:r>
            <a:endParaRPr lang="en-US" sz="750" dirty="0"/>
          </a:p>
        </p:txBody>
      </p:sp>
      <p:sp>
        <p:nvSpPr>
          <p:cNvPr id="48" name="Shape 46"/>
          <p:cNvSpPr/>
          <p:nvPr/>
        </p:nvSpPr>
        <p:spPr>
          <a:xfrm>
            <a:off x="3712464" y="299008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49" name="Shape 47"/>
          <p:cNvSpPr/>
          <p:nvPr/>
        </p:nvSpPr>
        <p:spPr>
          <a:xfrm>
            <a:off x="3712464" y="2990088"/>
            <a:ext cx="1609344" cy="45720"/>
          </a:xfrm>
          <a:prstGeom prst="rect">
            <a:avLst/>
          </a:prstGeom>
          <a:solidFill>
            <a:srgbClr val="4A235A"/>
          </a:solidFill>
          <a:ln/>
        </p:spPr>
      </p:sp>
      <p:sp>
        <p:nvSpPr>
          <p:cNvPr id="50" name="Shape 48"/>
          <p:cNvSpPr/>
          <p:nvPr/>
        </p:nvSpPr>
        <p:spPr>
          <a:xfrm>
            <a:off x="3712464" y="2990088"/>
            <a:ext cx="54864" cy="1719072"/>
          </a:xfrm>
          <a:prstGeom prst="rect">
            <a:avLst/>
          </a:prstGeom>
          <a:solidFill>
            <a:srgbClr val="4A235A"/>
          </a:solidFill>
          <a:ln/>
        </p:spPr>
      </p:sp>
      <p:sp>
        <p:nvSpPr>
          <p:cNvPr id="51" name="Text 49"/>
          <p:cNvSpPr/>
          <p:nvPr/>
        </p:nvSpPr>
        <p:spPr>
          <a:xfrm>
            <a:off x="3803904" y="308152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52" name="Text 50"/>
          <p:cNvSpPr/>
          <p:nvPr/>
        </p:nvSpPr>
        <p:spPr>
          <a:xfrm>
            <a:off x="3822192" y="358444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Precedentes</a:t>
            </a:r>
            <a:endParaRPr lang="en-US" sz="1050" dirty="0"/>
          </a:p>
        </p:txBody>
      </p:sp>
      <p:sp>
        <p:nvSpPr>
          <p:cNvPr id="53" name="Text 51"/>
          <p:cNvSpPr/>
          <p:nvPr/>
        </p:nvSpPr>
        <p:spPr>
          <a:xfrm>
            <a:off x="3822192" y="392277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Jurisdicción, instancia, principios y aplicabilidad actual</a:t>
            </a:r>
            <a:endParaRPr lang="en-US" sz="750" dirty="0"/>
          </a:p>
        </p:txBody>
      </p:sp>
      <p:sp>
        <p:nvSpPr>
          <p:cNvPr id="54" name="Shape 52"/>
          <p:cNvSpPr/>
          <p:nvPr/>
        </p:nvSpPr>
        <p:spPr>
          <a:xfrm>
            <a:off x="5468112" y="299008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55" name="Shape 53"/>
          <p:cNvSpPr/>
          <p:nvPr/>
        </p:nvSpPr>
        <p:spPr>
          <a:xfrm>
            <a:off x="5468112" y="2990088"/>
            <a:ext cx="1609344" cy="45720"/>
          </a:xfrm>
          <a:prstGeom prst="rect">
            <a:avLst/>
          </a:prstGeom>
          <a:solidFill>
            <a:srgbClr val="1A4A3A"/>
          </a:solidFill>
          <a:ln/>
        </p:spPr>
      </p:sp>
      <p:sp>
        <p:nvSpPr>
          <p:cNvPr id="56" name="Shape 54"/>
          <p:cNvSpPr/>
          <p:nvPr/>
        </p:nvSpPr>
        <p:spPr>
          <a:xfrm>
            <a:off x="5468112" y="2990088"/>
            <a:ext cx="54864" cy="1719072"/>
          </a:xfrm>
          <a:prstGeom prst="rect">
            <a:avLst/>
          </a:prstGeom>
          <a:solidFill>
            <a:srgbClr val="1A4A3A"/>
          </a:solidFill>
          <a:ln/>
        </p:spPr>
      </p:sp>
      <p:sp>
        <p:nvSpPr>
          <p:cNvPr id="57" name="Text 55"/>
          <p:cNvSpPr/>
          <p:nvPr/>
        </p:nvSpPr>
        <p:spPr>
          <a:xfrm>
            <a:off x="5559552" y="308152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58" name="Text 56"/>
          <p:cNvSpPr/>
          <p:nvPr/>
        </p:nvSpPr>
        <p:spPr>
          <a:xfrm>
            <a:off x="5577840" y="358444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Biblioteca</a:t>
            </a:r>
            <a:endParaRPr lang="en-US" sz="1050" dirty="0"/>
          </a:p>
        </p:txBody>
      </p:sp>
      <p:sp>
        <p:nvSpPr>
          <p:cNvPr id="59" name="Text 57"/>
          <p:cNvSpPr/>
          <p:nvPr/>
        </p:nvSpPr>
        <p:spPr>
          <a:xfrm>
            <a:off x="5577840" y="392277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Tipo, formato, préstamos realizados y disponibilidad</a:t>
            </a:r>
            <a:endParaRPr lang="en-US" sz="750" dirty="0"/>
          </a:p>
        </p:txBody>
      </p:sp>
      <p:sp>
        <p:nvSpPr>
          <p:cNvPr id="60" name="Shape 58"/>
          <p:cNvSpPr/>
          <p:nvPr/>
        </p:nvSpPr>
        <p:spPr>
          <a:xfrm>
            <a:off x="7223760" y="2990088"/>
            <a:ext cx="1609344" cy="1719072"/>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61" name="Shape 59"/>
          <p:cNvSpPr/>
          <p:nvPr/>
        </p:nvSpPr>
        <p:spPr>
          <a:xfrm>
            <a:off x="7223760" y="2990088"/>
            <a:ext cx="1609344" cy="45720"/>
          </a:xfrm>
          <a:prstGeom prst="rect">
            <a:avLst/>
          </a:prstGeom>
          <a:solidFill>
            <a:srgbClr val="2C2016"/>
          </a:solidFill>
          <a:ln/>
        </p:spPr>
      </p:sp>
      <p:sp>
        <p:nvSpPr>
          <p:cNvPr id="62" name="Shape 60"/>
          <p:cNvSpPr/>
          <p:nvPr/>
        </p:nvSpPr>
        <p:spPr>
          <a:xfrm>
            <a:off x="7223760" y="2990088"/>
            <a:ext cx="54864" cy="1719072"/>
          </a:xfrm>
          <a:prstGeom prst="rect">
            <a:avLst/>
          </a:prstGeom>
          <a:solidFill>
            <a:srgbClr val="2C2016"/>
          </a:solidFill>
          <a:ln/>
        </p:spPr>
      </p:sp>
      <p:sp>
        <p:nvSpPr>
          <p:cNvPr id="63" name="Text 61"/>
          <p:cNvSpPr/>
          <p:nvPr/>
        </p:nvSpPr>
        <p:spPr>
          <a:xfrm>
            <a:off x="7315200" y="3081528"/>
            <a:ext cx="502920" cy="475488"/>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64" name="Text 62"/>
          <p:cNvSpPr/>
          <p:nvPr/>
        </p:nvSpPr>
        <p:spPr>
          <a:xfrm>
            <a:off x="7333488" y="3584448"/>
            <a:ext cx="1389888" cy="329184"/>
          </a:xfrm>
          <a:prstGeom prst="rect">
            <a:avLst/>
          </a:prstGeom>
          <a:noFill/>
          <a:ln/>
        </p:spPr>
        <p:txBody>
          <a:bodyPr wrap="square" lIns="0" tIns="0" rIns="0" bIns="0" rtlCol="0" anchor="ctr"/>
          <a:lstStyle/>
          <a:p>
            <a:pPr marL="0" indent="0">
              <a:buNone/>
            </a:pPr>
            <a:r>
              <a:rPr lang="en-US" sz="1050" b="1" dirty="0">
                <a:solidFill>
                  <a:srgbClr val="5C1A30"/>
                </a:solidFill>
                <a:latin typeface="Georgia" pitchFamily="34" charset="0"/>
                <a:ea typeface="Georgia" pitchFamily="34" charset="-122"/>
                <a:cs typeface="Georgia" pitchFamily="34" charset="-120"/>
              </a:rPr>
              <a:t>Conocim. Juríd.</a:t>
            </a:r>
            <a:endParaRPr lang="en-US" sz="1050" dirty="0"/>
          </a:p>
        </p:txBody>
      </p:sp>
      <p:sp>
        <p:nvSpPr>
          <p:cNvPr id="65" name="Text 63"/>
          <p:cNvSpPr/>
          <p:nvPr/>
        </p:nvSpPr>
        <p:spPr>
          <a:xfrm>
            <a:off x="7333488" y="3922776"/>
            <a:ext cx="1389888" cy="7315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Área legal, legislación, jurisprudencia y expertos internos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30"/>
          </a:solidFill>
          <a:ln/>
        </p:spPr>
      </p:sp>
      <p:sp>
        <p:nvSpPr>
          <p:cNvPr id="3" name="Shape 1"/>
          <p:cNvSpPr/>
          <p:nvPr/>
        </p:nvSpPr>
        <p:spPr>
          <a:xfrm>
            <a:off x="0" y="960120"/>
            <a:ext cx="9144000" cy="45720"/>
          </a:xfrm>
          <a:prstGeom prst="rect">
            <a:avLst/>
          </a:prstGeom>
          <a:solidFill>
            <a:srgbClr val="B8952A"/>
          </a:solidFill>
          <a:ln/>
        </p:spPr>
      </p:sp>
      <p:sp>
        <p:nvSpPr>
          <p:cNvPr id="4" name="Text 2"/>
          <p:cNvSpPr/>
          <p:nvPr/>
        </p:nvSpPr>
        <p:spPr>
          <a:xfrm>
            <a:off x="411480" y="118872"/>
            <a:ext cx="832104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Tecnologías Utilizadas</a:t>
            </a:r>
            <a:endParaRPr lang="en-US" sz="2200" dirty="0"/>
          </a:p>
        </p:txBody>
      </p:sp>
      <p:sp>
        <p:nvSpPr>
          <p:cNvPr id="5" name="Text 3"/>
          <p:cNvSpPr/>
          <p:nvPr/>
        </p:nvSpPr>
        <p:spPr>
          <a:xfrm>
            <a:off x="411480" y="658368"/>
            <a:ext cx="8229600" cy="256032"/>
          </a:xfrm>
          <a:prstGeom prst="rect">
            <a:avLst/>
          </a:prstGeom>
          <a:noFill/>
          <a:ln/>
        </p:spPr>
        <p:txBody>
          <a:bodyPr wrap="square" lIns="0" tIns="0" rIns="0" bIns="0" rtlCol="0" anchor="ctr"/>
          <a:lstStyle/>
          <a:p>
            <a:pPr marL="0" indent="0">
              <a:buNone/>
            </a:pPr>
            <a:r>
              <a:rPr lang="en-US" sz="1050" i="1" dirty="0">
                <a:solidFill>
                  <a:srgbClr val="D4AF37"/>
                </a:solidFill>
                <a:latin typeface="Calibri" pitchFamily="34" charset="0"/>
                <a:ea typeface="Calibri" pitchFamily="34" charset="-122"/>
                <a:cs typeface="Calibri" pitchFamily="34" charset="-120"/>
              </a:rPr>
              <a:t>Stack técnico del proyecto LawFirm</a:t>
            </a:r>
            <a:endParaRPr lang="en-US" sz="1050" dirty="0"/>
          </a:p>
        </p:txBody>
      </p:sp>
      <p:sp>
        <p:nvSpPr>
          <p:cNvPr id="6" name="Shape 4"/>
          <p:cNvSpPr/>
          <p:nvPr/>
        </p:nvSpPr>
        <p:spPr>
          <a:xfrm>
            <a:off x="365760" y="1115568"/>
            <a:ext cx="4023360" cy="1664208"/>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7" name="Shape 5"/>
          <p:cNvSpPr/>
          <p:nvPr/>
        </p:nvSpPr>
        <p:spPr>
          <a:xfrm>
            <a:off x="365760" y="1115568"/>
            <a:ext cx="4023360" cy="457200"/>
          </a:xfrm>
          <a:prstGeom prst="rect">
            <a:avLst/>
          </a:prstGeom>
          <a:solidFill>
            <a:srgbClr val="2C5282"/>
          </a:solidFill>
          <a:ln/>
        </p:spPr>
      </p:sp>
      <p:sp>
        <p:nvSpPr>
          <p:cNvPr id="8" name="Text 6"/>
          <p:cNvSpPr/>
          <p:nvPr/>
        </p:nvSpPr>
        <p:spPr>
          <a:xfrm>
            <a:off x="493776" y="1188720"/>
            <a:ext cx="25603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Python 3</a:t>
            </a:r>
            <a:endParaRPr lang="en-US" sz="1400" dirty="0"/>
          </a:p>
        </p:txBody>
      </p:sp>
      <p:sp>
        <p:nvSpPr>
          <p:cNvPr id="9" name="Text 7"/>
          <p:cNvSpPr/>
          <p:nvPr/>
        </p:nvSpPr>
        <p:spPr>
          <a:xfrm>
            <a:off x="3291840" y="1207008"/>
            <a:ext cx="1005840" cy="25603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v3.8+</a:t>
            </a:r>
            <a:endParaRPr lang="en-US" sz="900" dirty="0"/>
          </a:p>
        </p:txBody>
      </p:sp>
      <p:sp>
        <p:nvSpPr>
          <p:cNvPr id="10" name="Text 8"/>
          <p:cNvSpPr/>
          <p:nvPr/>
        </p:nvSpPr>
        <p:spPr>
          <a:xfrm>
            <a:off x="512064" y="1664208"/>
            <a:ext cx="3657600" cy="274320"/>
          </a:xfrm>
          <a:prstGeom prst="rect">
            <a:avLst/>
          </a:prstGeom>
          <a:noFill/>
          <a:ln/>
        </p:spPr>
        <p:txBody>
          <a:bodyPr wrap="square" lIns="0" tIns="0" rIns="0" bIns="0" rtlCol="0" anchor="ctr"/>
          <a:lstStyle/>
          <a:p>
            <a:pPr marL="0" indent="0">
              <a:buNone/>
            </a:pPr>
            <a:r>
              <a:rPr lang="en-US" sz="1000" b="1" dirty="0">
                <a:solidFill>
                  <a:srgbClr val="2C5282"/>
                </a:solidFill>
                <a:latin typeface="Georgia" pitchFamily="34" charset="0"/>
                <a:ea typeface="Georgia" pitchFamily="34" charset="-122"/>
                <a:cs typeface="Georgia" pitchFamily="34" charset="-120"/>
              </a:rPr>
              <a:t>Lenguaje Principal</a:t>
            </a:r>
            <a:endParaRPr lang="en-US" sz="1000" dirty="0"/>
          </a:p>
        </p:txBody>
      </p:sp>
      <p:sp>
        <p:nvSpPr>
          <p:cNvPr id="11" name="Text 9"/>
          <p:cNvSpPr/>
          <p:nvPr/>
        </p:nvSpPr>
        <p:spPr>
          <a:xfrm>
            <a:off x="512064" y="1938528"/>
            <a:ext cx="3703320" cy="7772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Lenguaje de alto nivel con excelente soporte para POO, interfaces de escritorio y manejo de datos sensibles. Permite código legible y mantenible, clave para sistemas con larga vida útil como los del sector legal.</a:t>
            </a:r>
            <a:endParaRPr lang="en-US" sz="900" dirty="0"/>
          </a:p>
        </p:txBody>
      </p:sp>
      <p:sp>
        <p:nvSpPr>
          <p:cNvPr id="12" name="Shape 10"/>
          <p:cNvSpPr/>
          <p:nvPr/>
        </p:nvSpPr>
        <p:spPr>
          <a:xfrm>
            <a:off x="4754880" y="1115568"/>
            <a:ext cx="4023360" cy="1664208"/>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3" name="Shape 11"/>
          <p:cNvSpPr/>
          <p:nvPr/>
        </p:nvSpPr>
        <p:spPr>
          <a:xfrm>
            <a:off x="4754880" y="1115568"/>
            <a:ext cx="4023360" cy="457200"/>
          </a:xfrm>
          <a:prstGeom prst="rect">
            <a:avLst/>
          </a:prstGeom>
          <a:solidFill>
            <a:srgbClr val="8B2942"/>
          </a:solidFill>
          <a:ln/>
        </p:spPr>
      </p:sp>
      <p:sp>
        <p:nvSpPr>
          <p:cNvPr id="14" name="Text 12"/>
          <p:cNvSpPr/>
          <p:nvPr/>
        </p:nvSpPr>
        <p:spPr>
          <a:xfrm>
            <a:off x="4882896" y="1188720"/>
            <a:ext cx="25603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Tkinter</a:t>
            </a:r>
            <a:endParaRPr lang="en-US" sz="1400" dirty="0"/>
          </a:p>
        </p:txBody>
      </p:sp>
      <p:sp>
        <p:nvSpPr>
          <p:cNvPr id="15" name="Text 13"/>
          <p:cNvSpPr/>
          <p:nvPr/>
        </p:nvSpPr>
        <p:spPr>
          <a:xfrm>
            <a:off x="7680960" y="1207008"/>
            <a:ext cx="1005840" cy="25603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Built-in</a:t>
            </a:r>
            <a:endParaRPr lang="en-US" sz="900" dirty="0"/>
          </a:p>
        </p:txBody>
      </p:sp>
      <p:sp>
        <p:nvSpPr>
          <p:cNvPr id="16" name="Text 14"/>
          <p:cNvSpPr/>
          <p:nvPr/>
        </p:nvSpPr>
        <p:spPr>
          <a:xfrm>
            <a:off x="4901184" y="1664208"/>
            <a:ext cx="3657600" cy="274320"/>
          </a:xfrm>
          <a:prstGeom prst="rect">
            <a:avLst/>
          </a:prstGeom>
          <a:noFill/>
          <a:ln/>
        </p:spPr>
        <p:txBody>
          <a:bodyPr wrap="square" lIns="0" tIns="0" rIns="0" bIns="0" rtlCol="0" anchor="ctr"/>
          <a:lstStyle/>
          <a:p>
            <a:pPr marL="0" indent="0">
              <a:buNone/>
            </a:pPr>
            <a:r>
              <a:rPr lang="en-US" sz="1000" b="1" dirty="0">
                <a:solidFill>
                  <a:srgbClr val="8B2942"/>
                </a:solidFill>
                <a:latin typeface="Georgia" pitchFamily="34" charset="0"/>
                <a:ea typeface="Georgia" pitchFamily="34" charset="-122"/>
                <a:cs typeface="Georgia" pitchFamily="34" charset="-120"/>
              </a:rPr>
              <a:t>GUI Framework</a:t>
            </a:r>
            <a:endParaRPr lang="en-US" sz="1000" dirty="0"/>
          </a:p>
        </p:txBody>
      </p:sp>
      <p:sp>
        <p:nvSpPr>
          <p:cNvPr id="17" name="Text 15"/>
          <p:cNvSpPr/>
          <p:nvPr/>
        </p:nvSpPr>
        <p:spPr>
          <a:xfrm>
            <a:off x="4901184" y="1938528"/>
            <a:ext cx="3703320" cy="7772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Librería estándar de Python para GUIs de escritorio. Provee Notebook (pestañas), Entry, Text, Combobox, Canvas con scroll y messagebox para flujos de confirmación y advertencia en cada módulo.</a:t>
            </a:r>
            <a:endParaRPr lang="en-US" sz="900" dirty="0"/>
          </a:p>
        </p:txBody>
      </p:sp>
      <p:sp>
        <p:nvSpPr>
          <p:cNvPr id="18" name="Shape 16"/>
          <p:cNvSpPr/>
          <p:nvPr/>
        </p:nvSpPr>
        <p:spPr>
          <a:xfrm>
            <a:off x="365760" y="2990088"/>
            <a:ext cx="4023360" cy="1664208"/>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9" name="Shape 17"/>
          <p:cNvSpPr/>
          <p:nvPr/>
        </p:nvSpPr>
        <p:spPr>
          <a:xfrm>
            <a:off x="365760" y="2990088"/>
            <a:ext cx="4023360" cy="457200"/>
          </a:xfrm>
          <a:prstGeom prst="rect">
            <a:avLst/>
          </a:prstGeom>
          <a:solidFill>
            <a:srgbClr val="B8952A"/>
          </a:solidFill>
          <a:ln/>
        </p:spPr>
      </p:sp>
      <p:sp>
        <p:nvSpPr>
          <p:cNvPr id="20" name="Text 18"/>
          <p:cNvSpPr/>
          <p:nvPr/>
        </p:nvSpPr>
        <p:spPr>
          <a:xfrm>
            <a:off x="493776" y="3063240"/>
            <a:ext cx="25603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ttk</a:t>
            </a:r>
            <a:endParaRPr lang="en-US" sz="1400" dirty="0"/>
          </a:p>
        </p:txBody>
      </p:sp>
      <p:sp>
        <p:nvSpPr>
          <p:cNvPr id="21" name="Text 19"/>
          <p:cNvSpPr/>
          <p:nvPr/>
        </p:nvSpPr>
        <p:spPr>
          <a:xfrm>
            <a:off x="3291840" y="3081528"/>
            <a:ext cx="1005840" cy="25603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Incluido</a:t>
            </a:r>
            <a:endParaRPr lang="en-US" sz="900" dirty="0"/>
          </a:p>
        </p:txBody>
      </p:sp>
      <p:sp>
        <p:nvSpPr>
          <p:cNvPr id="22" name="Text 20"/>
          <p:cNvSpPr/>
          <p:nvPr/>
        </p:nvSpPr>
        <p:spPr>
          <a:xfrm>
            <a:off x="512064" y="3538728"/>
            <a:ext cx="3657600" cy="274320"/>
          </a:xfrm>
          <a:prstGeom prst="rect">
            <a:avLst/>
          </a:prstGeom>
          <a:noFill/>
          <a:ln/>
        </p:spPr>
        <p:txBody>
          <a:bodyPr wrap="square" lIns="0" tIns="0" rIns="0" bIns="0" rtlCol="0" anchor="ctr"/>
          <a:lstStyle/>
          <a:p>
            <a:pPr marL="0" indent="0">
              <a:buNone/>
            </a:pPr>
            <a:r>
              <a:rPr lang="en-US" sz="1000" b="1" dirty="0">
                <a:solidFill>
                  <a:srgbClr val="B8952A"/>
                </a:solidFill>
                <a:latin typeface="Georgia" pitchFamily="34" charset="0"/>
                <a:ea typeface="Georgia" pitchFamily="34" charset="-122"/>
                <a:cs typeface="Georgia" pitchFamily="34" charset="-120"/>
              </a:rPr>
              <a:t>Widgets Mejorados</a:t>
            </a:r>
            <a:endParaRPr lang="en-US" sz="1000" dirty="0"/>
          </a:p>
        </p:txBody>
      </p:sp>
      <p:sp>
        <p:nvSpPr>
          <p:cNvPr id="23" name="Text 21"/>
          <p:cNvSpPr/>
          <p:nvPr/>
        </p:nvSpPr>
        <p:spPr>
          <a:xfrm>
            <a:off x="512064" y="3813048"/>
            <a:ext cx="3703320" cy="7772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Submódulo con estilo nativo del SO. Permite definir temas corporativos con ttk.Style para el Notebook de pestañas. Usado para Combobox con opciones predefinidas y Scrollbar estilizada en formularios largos.</a:t>
            </a:r>
            <a:endParaRPr lang="en-US" sz="900" dirty="0"/>
          </a:p>
        </p:txBody>
      </p:sp>
      <p:sp>
        <p:nvSpPr>
          <p:cNvPr id="24" name="Shape 22"/>
          <p:cNvSpPr/>
          <p:nvPr/>
        </p:nvSpPr>
        <p:spPr>
          <a:xfrm>
            <a:off x="4754880" y="2990088"/>
            <a:ext cx="4023360" cy="1664208"/>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25" name="Shape 23"/>
          <p:cNvSpPr/>
          <p:nvPr/>
        </p:nvSpPr>
        <p:spPr>
          <a:xfrm>
            <a:off x="4754880" y="2990088"/>
            <a:ext cx="4023360" cy="457200"/>
          </a:xfrm>
          <a:prstGeom prst="rect">
            <a:avLst/>
          </a:prstGeom>
          <a:solidFill>
            <a:srgbClr val="3A5A40"/>
          </a:solidFill>
          <a:ln/>
        </p:spPr>
      </p:sp>
      <p:sp>
        <p:nvSpPr>
          <p:cNvPr id="26" name="Text 24"/>
          <p:cNvSpPr/>
          <p:nvPr/>
        </p:nvSpPr>
        <p:spPr>
          <a:xfrm>
            <a:off x="4882896" y="3063240"/>
            <a:ext cx="25603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messagebox</a:t>
            </a:r>
            <a:endParaRPr lang="en-US" sz="1400" dirty="0"/>
          </a:p>
        </p:txBody>
      </p:sp>
      <p:sp>
        <p:nvSpPr>
          <p:cNvPr id="27" name="Text 25"/>
          <p:cNvSpPr/>
          <p:nvPr/>
        </p:nvSpPr>
        <p:spPr>
          <a:xfrm>
            <a:off x="7680960" y="3081528"/>
            <a:ext cx="1005840" cy="25603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Incluido</a:t>
            </a:r>
            <a:endParaRPr lang="en-US" sz="900" dirty="0"/>
          </a:p>
        </p:txBody>
      </p:sp>
      <p:sp>
        <p:nvSpPr>
          <p:cNvPr id="28" name="Text 26"/>
          <p:cNvSpPr/>
          <p:nvPr/>
        </p:nvSpPr>
        <p:spPr>
          <a:xfrm>
            <a:off x="4901184" y="3538728"/>
            <a:ext cx="3657600" cy="274320"/>
          </a:xfrm>
          <a:prstGeom prst="rect">
            <a:avLst/>
          </a:prstGeom>
          <a:noFill/>
          <a:ln/>
        </p:spPr>
        <p:txBody>
          <a:bodyPr wrap="square" lIns="0" tIns="0" rIns="0" bIns="0" rtlCol="0" anchor="ctr"/>
          <a:lstStyle/>
          <a:p>
            <a:pPr marL="0" indent="0">
              <a:buNone/>
            </a:pPr>
            <a:r>
              <a:rPr lang="en-US" sz="1000" b="1" dirty="0">
                <a:solidFill>
                  <a:srgbClr val="3A5A40"/>
                </a:solidFill>
                <a:latin typeface="Georgia" pitchFamily="34" charset="0"/>
                <a:ea typeface="Georgia" pitchFamily="34" charset="-122"/>
                <a:cs typeface="Georgia" pitchFamily="34" charset="-120"/>
              </a:rPr>
              <a:t>Diálogos de Sistema</a:t>
            </a:r>
            <a:endParaRPr lang="en-US" sz="1000" dirty="0"/>
          </a:p>
        </p:txBody>
      </p:sp>
      <p:sp>
        <p:nvSpPr>
          <p:cNvPr id="29" name="Text 27"/>
          <p:cNvSpPr/>
          <p:nvPr/>
        </p:nvSpPr>
        <p:spPr>
          <a:xfrm>
            <a:off x="4901184" y="3813048"/>
            <a:ext cx="3703320" cy="7772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Módulo de Tkinter para ventanas emergentes de confirmación y advertencia. Implementado en cada módulo para validar guardado de registros, confirmar eliminación y notificar errores de validación al usuario.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30"/>
          </a:solidFill>
          <a:ln/>
        </p:spPr>
      </p:sp>
      <p:sp>
        <p:nvSpPr>
          <p:cNvPr id="3" name="Shape 1"/>
          <p:cNvSpPr/>
          <p:nvPr/>
        </p:nvSpPr>
        <p:spPr>
          <a:xfrm>
            <a:off x="0" y="960120"/>
            <a:ext cx="9144000" cy="45720"/>
          </a:xfrm>
          <a:prstGeom prst="rect">
            <a:avLst/>
          </a:prstGeom>
          <a:solidFill>
            <a:srgbClr val="B8952A"/>
          </a:solidFill>
          <a:ln/>
        </p:spPr>
      </p:sp>
      <p:sp>
        <p:nvSpPr>
          <p:cNvPr id="4" name="Text 2"/>
          <p:cNvSpPr/>
          <p:nvPr/>
        </p:nvSpPr>
        <p:spPr>
          <a:xfrm>
            <a:off x="411480" y="118872"/>
            <a:ext cx="832104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Arquitectura del Código</a:t>
            </a:r>
            <a:endParaRPr lang="en-US" sz="2200" dirty="0"/>
          </a:p>
        </p:txBody>
      </p:sp>
      <p:sp>
        <p:nvSpPr>
          <p:cNvPr id="5" name="Text 3"/>
          <p:cNvSpPr/>
          <p:nvPr/>
        </p:nvSpPr>
        <p:spPr>
          <a:xfrm>
            <a:off x="411480" y="658368"/>
            <a:ext cx="8229600" cy="256032"/>
          </a:xfrm>
          <a:prstGeom prst="rect">
            <a:avLst/>
          </a:prstGeom>
          <a:noFill/>
          <a:ln/>
        </p:spPr>
        <p:txBody>
          <a:bodyPr wrap="square" lIns="0" tIns="0" rIns="0" bIns="0" rtlCol="0" anchor="ctr"/>
          <a:lstStyle/>
          <a:p>
            <a:pPr marL="0" indent="0">
              <a:buNone/>
            </a:pPr>
            <a:r>
              <a:rPr lang="en-US" sz="1050" i="1" dirty="0">
                <a:solidFill>
                  <a:srgbClr val="D4AF37"/>
                </a:solidFill>
                <a:latin typeface="Calibri" pitchFamily="34" charset="0"/>
                <a:ea typeface="Calibri" pitchFamily="34" charset="-122"/>
                <a:cs typeface="Calibri" pitchFamily="34" charset="-120"/>
              </a:rPr>
              <a:t>Patrón modular con helpers reutilizables</a:t>
            </a:r>
            <a:endParaRPr lang="en-US" sz="1050" dirty="0"/>
          </a:p>
        </p:txBody>
      </p:sp>
      <p:sp>
        <p:nvSpPr>
          <p:cNvPr id="6" name="Shape 4"/>
          <p:cNvSpPr/>
          <p:nvPr/>
        </p:nvSpPr>
        <p:spPr>
          <a:xfrm>
            <a:off x="3383280" y="1097280"/>
            <a:ext cx="2377440" cy="502920"/>
          </a:xfrm>
          <a:prstGeom prst="rect">
            <a:avLst/>
          </a:prstGeom>
          <a:solidFill>
            <a:srgbClr val="5C1A30"/>
          </a:solidFill>
          <a:ln/>
          <a:effectLst>
            <a:outerShdw blurRad="88900" dist="38100" dir="8100000" algn="bl" rotWithShape="0">
              <a:srgbClr val="000000">
                <a:alpha val="14000"/>
              </a:srgbClr>
            </a:outerShdw>
          </a:effectLst>
        </p:spPr>
      </p:sp>
      <p:sp>
        <p:nvSpPr>
          <p:cNvPr id="7" name="Text 5"/>
          <p:cNvSpPr/>
          <p:nvPr/>
        </p:nvSpPr>
        <p:spPr>
          <a:xfrm>
            <a:off x="3383280" y="1097280"/>
            <a:ext cx="2377440" cy="502920"/>
          </a:xfrm>
          <a:prstGeom prst="rect">
            <a:avLst/>
          </a:prstGeom>
          <a:noFill/>
          <a:ln/>
        </p:spPr>
        <p:txBody>
          <a:bodyPr wrap="square" rtlCol="0" anchor="ctr"/>
          <a:lstStyle/>
          <a:p>
            <a:pPr marL="0" indent="0" algn="ctr">
              <a:buNone/>
            </a:pPr>
            <a:r>
              <a:rPr lang="en-US" sz="950" b="1" dirty="0">
                <a:solidFill>
                  <a:srgbClr val="FFFFFF"/>
                </a:solidFill>
                <a:latin typeface="Georgia" pitchFamily="34" charset="0"/>
                <a:ea typeface="Georgia" pitchFamily="34" charset="-122"/>
                <a:cs typeface="Georgia" pitchFamily="34" charset="-120"/>
              </a:rPr>
              <a:t>tk.Tk() — Ventana principal</a:t>
            </a:r>
            <a:endParaRPr lang="en-US" sz="950" dirty="0"/>
          </a:p>
        </p:txBody>
      </p:sp>
      <p:sp>
        <p:nvSpPr>
          <p:cNvPr id="8" name="Shape 6"/>
          <p:cNvSpPr/>
          <p:nvPr/>
        </p:nvSpPr>
        <p:spPr>
          <a:xfrm>
            <a:off x="4572000" y="1600200"/>
            <a:ext cx="0" cy="201168"/>
          </a:xfrm>
          <a:prstGeom prst="line">
            <a:avLst/>
          </a:prstGeom>
          <a:noFill/>
          <a:ln w="25400">
            <a:solidFill>
              <a:srgbClr val="B8952A"/>
            </a:solidFill>
            <a:prstDash val="solid"/>
          </a:ln>
        </p:spPr>
      </p:sp>
      <p:sp>
        <p:nvSpPr>
          <p:cNvPr id="9" name="Shape 7"/>
          <p:cNvSpPr/>
          <p:nvPr/>
        </p:nvSpPr>
        <p:spPr>
          <a:xfrm>
            <a:off x="3108960" y="1801368"/>
            <a:ext cx="2926080" cy="457200"/>
          </a:xfrm>
          <a:prstGeom prst="rect">
            <a:avLst/>
          </a:prstGeom>
          <a:solidFill>
            <a:srgbClr val="8B2942"/>
          </a:solidFill>
          <a:ln/>
          <a:effectLst>
            <a:outerShdw blurRad="88900" dist="38100" dir="8100000" algn="bl" rotWithShape="0">
              <a:srgbClr val="000000">
                <a:alpha val="14000"/>
              </a:srgbClr>
            </a:outerShdw>
          </a:effectLst>
        </p:spPr>
      </p:sp>
      <p:sp>
        <p:nvSpPr>
          <p:cNvPr id="10" name="Text 8"/>
          <p:cNvSpPr/>
          <p:nvPr/>
        </p:nvSpPr>
        <p:spPr>
          <a:xfrm>
            <a:off x="3108960" y="1801368"/>
            <a:ext cx="2926080" cy="457200"/>
          </a:xfrm>
          <a:prstGeom prst="rect">
            <a:avLst/>
          </a:prstGeom>
          <a:noFill/>
          <a:ln/>
        </p:spPr>
        <p:txBody>
          <a:bodyPr wrap="square" rtlCol="0" anchor="ctr"/>
          <a:lstStyle/>
          <a:p>
            <a:pPr marL="0" indent="0" algn="ctr">
              <a:buNone/>
            </a:pPr>
            <a:r>
              <a:rPr lang="en-US" sz="950" b="1" dirty="0">
                <a:solidFill>
                  <a:srgbClr val="FFFFFF"/>
                </a:solidFill>
                <a:latin typeface="Georgia" pitchFamily="34" charset="0"/>
                <a:ea typeface="Georgia" pitchFamily="34" charset="-122"/>
                <a:cs typeface="Georgia" pitchFamily="34" charset="-120"/>
              </a:rPr>
              <a:t>ttk.Notebook (4 pestañas)</a:t>
            </a:r>
            <a:endParaRPr lang="en-US" sz="950" dirty="0"/>
          </a:p>
        </p:txBody>
      </p:sp>
      <p:sp>
        <p:nvSpPr>
          <p:cNvPr id="11" name="Shape 9"/>
          <p:cNvSpPr/>
          <p:nvPr/>
        </p:nvSpPr>
        <p:spPr>
          <a:xfrm flipH="1">
            <a:off x="1097279" y="1920240"/>
            <a:ext cx="2011675" cy="539496"/>
          </a:xfrm>
          <a:prstGeom prst="line">
            <a:avLst/>
          </a:prstGeom>
          <a:noFill/>
          <a:ln w="19050">
            <a:solidFill>
              <a:srgbClr val="B8952A"/>
            </a:solidFill>
            <a:prstDash val="solid"/>
          </a:ln>
        </p:spPr>
      </p:sp>
      <p:sp>
        <p:nvSpPr>
          <p:cNvPr id="12" name="Shape 10"/>
          <p:cNvSpPr/>
          <p:nvPr/>
        </p:nvSpPr>
        <p:spPr>
          <a:xfrm>
            <a:off x="365760" y="2459736"/>
            <a:ext cx="1463040" cy="402336"/>
          </a:xfrm>
          <a:prstGeom prst="rect">
            <a:avLst/>
          </a:prstGeom>
          <a:solidFill>
            <a:srgbClr val="5C1A30"/>
          </a:solidFill>
          <a:ln/>
          <a:effectLst>
            <a:outerShdw blurRad="88900" dist="38100" dir="8100000" algn="bl" rotWithShape="0">
              <a:srgbClr val="000000">
                <a:alpha val="14000"/>
              </a:srgbClr>
            </a:outerShdw>
          </a:effectLst>
        </p:spPr>
      </p:sp>
      <p:sp>
        <p:nvSpPr>
          <p:cNvPr id="13" name="Text 11"/>
          <p:cNvSpPr/>
          <p:nvPr/>
        </p:nvSpPr>
        <p:spPr>
          <a:xfrm>
            <a:off x="365760" y="2459736"/>
            <a:ext cx="146304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Clientes</a:t>
            </a:r>
            <a:endParaRPr lang="en-US" sz="900" dirty="0"/>
          </a:p>
        </p:txBody>
      </p:sp>
      <p:sp>
        <p:nvSpPr>
          <p:cNvPr id="14" name="Shape 12"/>
          <p:cNvSpPr/>
          <p:nvPr/>
        </p:nvSpPr>
        <p:spPr>
          <a:xfrm>
            <a:off x="3218688" y="2258568"/>
            <a:ext cx="0" cy="201168"/>
          </a:xfrm>
          <a:prstGeom prst="line">
            <a:avLst/>
          </a:prstGeom>
          <a:noFill/>
          <a:ln w="19050">
            <a:solidFill>
              <a:srgbClr val="B8952A"/>
            </a:solidFill>
            <a:prstDash val="solid"/>
          </a:ln>
        </p:spPr>
      </p:sp>
      <p:sp>
        <p:nvSpPr>
          <p:cNvPr id="15" name="Shape 13"/>
          <p:cNvSpPr/>
          <p:nvPr/>
        </p:nvSpPr>
        <p:spPr>
          <a:xfrm>
            <a:off x="2487168" y="2459736"/>
            <a:ext cx="1463040" cy="402336"/>
          </a:xfrm>
          <a:prstGeom prst="rect">
            <a:avLst/>
          </a:prstGeom>
          <a:solidFill>
            <a:srgbClr val="8B2942"/>
          </a:solidFill>
          <a:ln/>
          <a:effectLst>
            <a:outerShdw blurRad="88900" dist="38100" dir="8100000" algn="bl" rotWithShape="0">
              <a:srgbClr val="000000">
                <a:alpha val="14000"/>
              </a:srgbClr>
            </a:outerShdw>
          </a:effectLst>
        </p:spPr>
      </p:sp>
      <p:sp>
        <p:nvSpPr>
          <p:cNvPr id="16" name="Text 14"/>
          <p:cNvSpPr/>
          <p:nvPr/>
        </p:nvSpPr>
        <p:spPr>
          <a:xfrm>
            <a:off x="2487168" y="2459736"/>
            <a:ext cx="146304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Abogados</a:t>
            </a:r>
            <a:endParaRPr lang="en-US" sz="900" dirty="0"/>
          </a:p>
        </p:txBody>
      </p:sp>
      <p:sp>
        <p:nvSpPr>
          <p:cNvPr id="17" name="Shape 15"/>
          <p:cNvSpPr/>
          <p:nvPr/>
        </p:nvSpPr>
        <p:spPr>
          <a:xfrm>
            <a:off x="5340096" y="2258568"/>
            <a:ext cx="0" cy="201168"/>
          </a:xfrm>
          <a:prstGeom prst="line">
            <a:avLst/>
          </a:prstGeom>
          <a:noFill/>
          <a:ln w="19050">
            <a:solidFill>
              <a:srgbClr val="B8952A"/>
            </a:solidFill>
            <a:prstDash val="solid"/>
          </a:ln>
        </p:spPr>
      </p:sp>
      <p:sp>
        <p:nvSpPr>
          <p:cNvPr id="18" name="Shape 16"/>
          <p:cNvSpPr/>
          <p:nvPr/>
        </p:nvSpPr>
        <p:spPr>
          <a:xfrm>
            <a:off x="4608576" y="2459736"/>
            <a:ext cx="1463040" cy="402336"/>
          </a:xfrm>
          <a:prstGeom prst="rect">
            <a:avLst/>
          </a:prstGeom>
          <a:solidFill>
            <a:srgbClr val="B8952A"/>
          </a:solidFill>
          <a:ln/>
          <a:effectLst>
            <a:outerShdw blurRad="88900" dist="38100" dir="8100000" algn="bl" rotWithShape="0">
              <a:srgbClr val="000000">
                <a:alpha val="14000"/>
              </a:srgbClr>
            </a:outerShdw>
          </a:effectLst>
        </p:spPr>
      </p:sp>
      <p:sp>
        <p:nvSpPr>
          <p:cNvPr id="19" name="Text 17"/>
          <p:cNvSpPr/>
          <p:nvPr/>
        </p:nvSpPr>
        <p:spPr>
          <a:xfrm>
            <a:off x="4608576" y="2459736"/>
            <a:ext cx="146304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Casos</a:t>
            </a:r>
            <a:endParaRPr lang="en-US" sz="900" dirty="0"/>
          </a:p>
        </p:txBody>
      </p:sp>
      <p:sp>
        <p:nvSpPr>
          <p:cNvPr id="20" name="Shape 18"/>
          <p:cNvSpPr/>
          <p:nvPr/>
        </p:nvSpPr>
        <p:spPr>
          <a:xfrm>
            <a:off x="6035040" y="2066544"/>
            <a:ext cx="1426464" cy="393192"/>
          </a:xfrm>
          <a:prstGeom prst="line">
            <a:avLst/>
          </a:prstGeom>
          <a:noFill/>
          <a:ln w="19050">
            <a:solidFill>
              <a:srgbClr val="B8952A"/>
            </a:solidFill>
            <a:prstDash val="solid"/>
          </a:ln>
        </p:spPr>
      </p:sp>
      <p:sp>
        <p:nvSpPr>
          <p:cNvPr id="21" name="Shape 19"/>
          <p:cNvSpPr/>
          <p:nvPr/>
        </p:nvSpPr>
        <p:spPr>
          <a:xfrm>
            <a:off x="6729984" y="2459736"/>
            <a:ext cx="1463040" cy="402336"/>
          </a:xfrm>
          <a:prstGeom prst="rect">
            <a:avLst/>
          </a:prstGeom>
          <a:solidFill>
            <a:srgbClr val="2C2016"/>
          </a:solidFill>
          <a:ln/>
          <a:effectLst>
            <a:outerShdw blurRad="88900" dist="38100" dir="8100000" algn="bl" rotWithShape="0">
              <a:srgbClr val="000000">
                <a:alpha val="14000"/>
              </a:srgbClr>
            </a:outerShdw>
          </a:effectLst>
        </p:spPr>
      </p:sp>
      <p:sp>
        <p:nvSpPr>
          <p:cNvPr id="22" name="Text 20"/>
          <p:cNvSpPr/>
          <p:nvPr/>
        </p:nvSpPr>
        <p:spPr>
          <a:xfrm>
            <a:off x="6729984" y="2459736"/>
            <a:ext cx="146304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Empleados</a:t>
            </a:r>
            <a:endParaRPr lang="en-US" sz="900" dirty="0"/>
          </a:p>
        </p:txBody>
      </p:sp>
      <p:sp>
        <p:nvSpPr>
          <p:cNvPr id="23" name="Text 21"/>
          <p:cNvSpPr/>
          <p:nvPr/>
        </p:nvSpPr>
        <p:spPr>
          <a:xfrm>
            <a:off x="365760" y="3127248"/>
            <a:ext cx="3657600" cy="274320"/>
          </a:xfrm>
          <a:prstGeom prst="rect">
            <a:avLst/>
          </a:prstGeom>
          <a:noFill/>
          <a:ln/>
        </p:spPr>
        <p:txBody>
          <a:bodyPr wrap="square" lIns="0" tIns="0" rIns="0" bIns="0" rtlCol="0" anchor="ctr"/>
          <a:lstStyle/>
          <a:p>
            <a:pPr marL="0" indent="0">
              <a:buNone/>
            </a:pPr>
            <a:r>
              <a:rPr lang="en-US" sz="1100" b="1" dirty="0">
                <a:solidFill>
                  <a:srgbClr val="5C1A30"/>
                </a:solidFill>
                <a:latin typeface="Georgia" pitchFamily="34" charset="0"/>
                <a:ea typeface="Georgia" pitchFamily="34" charset="-122"/>
                <a:cs typeface="Georgia" pitchFamily="34" charset="-120"/>
              </a:rPr>
              <a:t>Helpers reutilizables:</a:t>
            </a:r>
            <a:endParaRPr lang="en-US" sz="1100" dirty="0"/>
          </a:p>
        </p:txBody>
      </p:sp>
      <p:sp>
        <p:nvSpPr>
          <p:cNvPr id="24" name="Shape 22"/>
          <p:cNvSpPr/>
          <p:nvPr/>
        </p:nvSpPr>
        <p:spPr>
          <a:xfrm>
            <a:off x="365760" y="3493008"/>
            <a:ext cx="2743200" cy="365760"/>
          </a:xfrm>
          <a:prstGeom prst="rect">
            <a:avLst/>
          </a:prstGeom>
          <a:solidFill>
            <a:srgbClr val="F7F3EC"/>
          </a:solidFill>
          <a:ln w="12700">
            <a:solidFill>
              <a:srgbClr val="B8952A"/>
            </a:solidFill>
            <a:prstDash val="solid"/>
          </a:ln>
        </p:spPr>
      </p:sp>
      <p:sp>
        <p:nvSpPr>
          <p:cNvPr id="25" name="Text 23"/>
          <p:cNvSpPr/>
          <p:nvPr/>
        </p:nvSpPr>
        <p:spPr>
          <a:xfrm>
            <a:off x="365760" y="3493008"/>
            <a:ext cx="2743200" cy="365760"/>
          </a:xfrm>
          <a:prstGeom prst="rect">
            <a:avLst/>
          </a:prstGeom>
          <a:noFill/>
          <a:ln/>
        </p:spPr>
        <p:txBody>
          <a:bodyPr wrap="square" rtlCol="0" anchor="ctr"/>
          <a:lstStyle/>
          <a:p>
            <a:pPr marL="0" indent="0" algn="ctr">
              <a:buNone/>
            </a:pPr>
            <a:r>
              <a:rPr lang="en-US" sz="1000" b="1" dirty="0">
                <a:solidFill>
                  <a:srgbClr val="5C1A30"/>
                </a:solidFill>
                <a:latin typeface="Calibri" pitchFamily="34" charset="0"/>
                <a:ea typeface="Calibri" pitchFamily="34" charset="-122"/>
                <a:cs typeface="Calibri" pitchFamily="34" charset="-120"/>
              </a:rPr>
              <a:t>make_label_entry()</a:t>
            </a:r>
            <a:endParaRPr lang="en-US" sz="1000" dirty="0"/>
          </a:p>
        </p:txBody>
      </p:sp>
      <p:sp>
        <p:nvSpPr>
          <p:cNvPr id="26" name="Shape 24"/>
          <p:cNvSpPr/>
          <p:nvPr/>
        </p:nvSpPr>
        <p:spPr>
          <a:xfrm>
            <a:off x="3291840" y="3493008"/>
            <a:ext cx="2743200" cy="365760"/>
          </a:xfrm>
          <a:prstGeom prst="rect">
            <a:avLst/>
          </a:prstGeom>
          <a:solidFill>
            <a:srgbClr val="F7F3EC"/>
          </a:solidFill>
          <a:ln w="12700">
            <a:solidFill>
              <a:srgbClr val="B8952A"/>
            </a:solidFill>
            <a:prstDash val="solid"/>
          </a:ln>
        </p:spPr>
      </p:sp>
      <p:sp>
        <p:nvSpPr>
          <p:cNvPr id="27" name="Text 25"/>
          <p:cNvSpPr/>
          <p:nvPr/>
        </p:nvSpPr>
        <p:spPr>
          <a:xfrm>
            <a:off x="3291840" y="3493008"/>
            <a:ext cx="2743200" cy="365760"/>
          </a:xfrm>
          <a:prstGeom prst="rect">
            <a:avLst/>
          </a:prstGeom>
          <a:noFill/>
          <a:ln/>
        </p:spPr>
        <p:txBody>
          <a:bodyPr wrap="square" rtlCol="0" anchor="ctr"/>
          <a:lstStyle/>
          <a:p>
            <a:pPr marL="0" indent="0" algn="ctr">
              <a:buNone/>
            </a:pPr>
            <a:r>
              <a:rPr lang="en-US" sz="1000" b="1" dirty="0">
                <a:solidFill>
                  <a:srgbClr val="5C1A30"/>
                </a:solidFill>
                <a:latin typeface="Calibri" pitchFamily="34" charset="0"/>
                <a:ea typeface="Calibri" pitchFamily="34" charset="-122"/>
                <a:cs typeface="Calibri" pitchFamily="34" charset="-120"/>
              </a:rPr>
              <a:t>make_label_combo()</a:t>
            </a:r>
            <a:endParaRPr lang="en-US" sz="1000" dirty="0"/>
          </a:p>
        </p:txBody>
      </p:sp>
      <p:sp>
        <p:nvSpPr>
          <p:cNvPr id="28" name="Shape 26"/>
          <p:cNvSpPr/>
          <p:nvPr/>
        </p:nvSpPr>
        <p:spPr>
          <a:xfrm>
            <a:off x="6217920" y="3493008"/>
            <a:ext cx="2743200" cy="365760"/>
          </a:xfrm>
          <a:prstGeom prst="rect">
            <a:avLst/>
          </a:prstGeom>
          <a:solidFill>
            <a:srgbClr val="F7F3EC"/>
          </a:solidFill>
          <a:ln w="12700">
            <a:solidFill>
              <a:srgbClr val="B8952A"/>
            </a:solidFill>
            <a:prstDash val="solid"/>
          </a:ln>
        </p:spPr>
      </p:sp>
      <p:sp>
        <p:nvSpPr>
          <p:cNvPr id="29" name="Text 27"/>
          <p:cNvSpPr/>
          <p:nvPr/>
        </p:nvSpPr>
        <p:spPr>
          <a:xfrm>
            <a:off x="6217920" y="3493008"/>
            <a:ext cx="2743200" cy="365760"/>
          </a:xfrm>
          <a:prstGeom prst="rect">
            <a:avLst/>
          </a:prstGeom>
          <a:noFill/>
          <a:ln/>
        </p:spPr>
        <p:txBody>
          <a:bodyPr wrap="square" rtlCol="0" anchor="ctr"/>
          <a:lstStyle/>
          <a:p>
            <a:pPr marL="0" indent="0" algn="ctr">
              <a:buNone/>
            </a:pPr>
            <a:r>
              <a:rPr lang="en-US" sz="1000" b="1" dirty="0">
                <a:solidFill>
                  <a:srgbClr val="5C1A30"/>
                </a:solidFill>
                <a:latin typeface="Calibri" pitchFamily="34" charset="0"/>
                <a:ea typeface="Calibri" pitchFamily="34" charset="-122"/>
                <a:cs typeface="Calibri" pitchFamily="34" charset="-120"/>
              </a:rPr>
              <a:t>make_buttons()</a:t>
            </a:r>
            <a:endParaRPr lang="en-US" sz="1000" dirty="0"/>
          </a:p>
        </p:txBody>
      </p:sp>
      <p:sp>
        <p:nvSpPr>
          <p:cNvPr id="30" name="Shape 28"/>
          <p:cNvSpPr/>
          <p:nvPr/>
        </p:nvSpPr>
        <p:spPr>
          <a:xfrm>
            <a:off x="365760" y="3950208"/>
            <a:ext cx="2743200" cy="365760"/>
          </a:xfrm>
          <a:prstGeom prst="rect">
            <a:avLst/>
          </a:prstGeom>
          <a:solidFill>
            <a:srgbClr val="F7F3EC"/>
          </a:solidFill>
          <a:ln w="12700">
            <a:solidFill>
              <a:srgbClr val="B8952A"/>
            </a:solidFill>
            <a:prstDash val="solid"/>
          </a:ln>
        </p:spPr>
      </p:sp>
      <p:sp>
        <p:nvSpPr>
          <p:cNvPr id="31" name="Text 29"/>
          <p:cNvSpPr/>
          <p:nvPr/>
        </p:nvSpPr>
        <p:spPr>
          <a:xfrm>
            <a:off x="365760" y="3950208"/>
            <a:ext cx="2743200" cy="365760"/>
          </a:xfrm>
          <a:prstGeom prst="rect">
            <a:avLst/>
          </a:prstGeom>
          <a:noFill/>
          <a:ln/>
        </p:spPr>
        <p:txBody>
          <a:bodyPr wrap="square" rtlCol="0" anchor="ctr"/>
          <a:lstStyle/>
          <a:p>
            <a:pPr marL="0" indent="0" algn="ctr">
              <a:buNone/>
            </a:pPr>
            <a:r>
              <a:rPr lang="en-US" sz="1000" b="1" dirty="0">
                <a:solidFill>
                  <a:srgbClr val="5C1A30"/>
                </a:solidFill>
                <a:latin typeface="Calibri" pitchFamily="34" charset="0"/>
                <a:ea typeface="Calibri" pitchFamily="34" charset="-122"/>
                <a:cs typeface="Calibri" pitchFamily="34" charset="-120"/>
              </a:rPr>
              <a:t>build_form()</a:t>
            </a:r>
            <a:endParaRPr lang="en-US" sz="1000" dirty="0"/>
          </a:p>
        </p:txBody>
      </p:sp>
      <p:sp>
        <p:nvSpPr>
          <p:cNvPr id="32" name="Shape 30"/>
          <p:cNvSpPr/>
          <p:nvPr/>
        </p:nvSpPr>
        <p:spPr>
          <a:xfrm>
            <a:off x="3291840" y="3950208"/>
            <a:ext cx="2743200" cy="365760"/>
          </a:xfrm>
          <a:prstGeom prst="rect">
            <a:avLst/>
          </a:prstGeom>
          <a:solidFill>
            <a:srgbClr val="F7F3EC"/>
          </a:solidFill>
          <a:ln w="12700">
            <a:solidFill>
              <a:srgbClr val="B8952A"/>
            </a:solidFill>
            <a:prstDash val="solid"/>
          </a:ln>
        </p:spPr>
      </p:sp>
      <p:sp>
        <p:nvSpPr>
          <p:cNvPr id="33" name="Text 31"/>
          <p:cNvSpPr/>
          <p:nvPr/>
        </p:nvSpPr>
        <p:spPr>
          <a:xfrm>
            <a:off x="3291840" y="3950208"/>
            <a:ext cx="2743200" cy="365760"/>
          </a:xfrm>
          <a:prstGeom prst="rect">
            <a:avLst/>
          </a:prstGeom>
          <a:noFill/>
          <a:ln/>
        </p:spPr>
        <p:txBody>
          <a:bodyPr wrap="square" rtlCol="0" anchor="ctr"/>
          <a:lstStyle/>
          <a:p>
            <a:pPr marL="0" indent="0" algn="ctr">
              <a:buNone/>
            </a:pPr>
            <a:r>
              <a:rPr lang="en-US" sz="1000" b="1" dirty="0">
                <a:solidFill>
                  <a:srgbClr val="5C1A30"/>
                </a:solidFill>
                <a:latin typeface="Calibri" pitchFamily="34" charset="0"/>
                <a:ea typeface="Calibri" pitchFamily="34" charset="-122"/>
                <a:cs typeface="Calibri" pitchFamily="34" charset="-120"/>
              </a:rPr>
              <a:t>clear_entries()</a:t>
            </a:r>
            <a:endParaRPr lang="en-US" sz="1000" dirty="0"/>
          </a:p>
        </p:txBody>
      </p:sp>
      <p:sp>
        <p:nvSpPr>
          <p:cNvPr id="34" name="Shape 32"/>
          <p:cNvSpPr/>
          <p:nvPr/>
        </p:nvSpPr>
        <p:spPr>
          <a:xfrm>
            <a:off x="6217920" y="3950208"/>
            <a:ext cx="2743200" cy="365760"/>
          </a:xfrm>
          <a:prstGeom prst="rect">
            <a:avLst/>
          </a:prstGeom>
          <a:solidFill>
            <a:srgbClr val="F7F3EC"/>
          </a:solidFill>
          <a:ln w="12700">
            <a:solidFill>
              <a:srgbClr val="B8952A"/>
            </a:solidFill>
            <a:prstDash val="solid"/>
          </a:ln>
        </p:spPr>
      </p:sp>
      <p:sp>
        <p:nvSpPr>
          <p:cNvPr id="35" name="Text 33"/>
          <p:cNvSpPr/>
          <p:nvPr/>
        </p:nvSpPr>
        <p:spPr>
          <a:xfrm>
            <a:off x="6217920" y="3950208"/>
            <a:ext cx="2743200" cy="365760"/>
          </a:xfrm>
          <a:prstGeom prst="rect">
            <a:avLst/>
          </a:prstGeom>
          <a:noFill/>
          <a:ln/>
        </p:spPr>
        <p:txBody>
          <a:bodyPr wrap="square" rtlCol="0" anchor="ctr"/>
          <a:lstStyle/>
          <a:p>
            <a:pPr marL="0" indent="0" algn="ctr">
              <a:buNone/>
            </a:pPr>
            <a:r>
              <a:rPr lang="en-US" sz="1000" b="1" dirty="0">
                <a:solidFill>
                  <a:srgbClr val="5C1A30"/>
                </a:solidFill>
                <a:latin typeface="Calibri" pitchFamily="34" charset="0"/>
                <a:ea typeface="Calibri" pitchFamily="34" charset="-122"/>
                <a:cs typeface="Calibri" pitchFamily="34" charset="-120"/>
              </a:rPr>
              <a:t>generic_save/delete()</a:t>
            </a:r>
            <a:endParaRPr lang="en-US" sz="1000" dirty="0"/>
          </a:p>
        </p:txBody>
      </p:sp>
      <p:sp>
        <p:nvSpPr>
          <p:cNvPr id="36" name="Shape 34"/>
          <p:cNvSpPr/>
          <p:nvPr/>
        </p:nvSpPr>
        <p:spPr>
          <a:xfrm>
            <a:off x="365760" y="4462272"/>
            <a:ext cx="8412480" cy="502920"/>
          </a:xfrm>
          <a:prstGeom prst="rect">
            <a:avLst/>
          </a:prstGeom>
          <a:solidFill>
            <a:srgbClr val="EDE8DF"/>
          </a:solidFill>
          <a:ln w="10160">
            <a:solidFill>
              <a:srgbClr val="B8952A"/>
            </a:solidFill>
            <a:prstDash val="solid"/>
          </a:ln>
        </p:spPr>
      </p:sp>
      <p:sp>
        <p:nvSpPr>
          <p:cNvPr id="37" name="Text 35"/>
          <p:cNvSpPr/>
          <p:nvPr/>
        </p:nvSpPr>
        <p:spPr>
          <a:xfrm>
            <a:off x="502920" y="4480560"/>
            <a:ext cx="8138160" cy="457200"/>
          </a:xfrm>
          <a:prstGeom prst="rect">
            <a:avLst/>
          </a:prstGeom>
          <a:noFill/>
          <a:ln/>
        </p:spPr>
        <p:txBody>
          <a:bodyPr wrap="square" lIns="0" tIns="0" rIns="0" bIns="0" rtlCol="0" anchor="ctr"/>
          <a:lstStyle/>
          <a:p>
            <a:pPr marL="0" indent="0">
              <a:buNone/>
            </a:pPr>
            <a:r>
              <a:rPr lang="en-US" sz="950" dirty="0">
                <a:solidFill>
                  <a:srgbClr val="2C2016"/>
                </a:solidFill>
                <a:latin typeface="Calibri" pitchFamily="34" charset="0"/>
                <a:ea typeface="Calibri" pitchFamily="34" charset="-122"/>
                <a:cs typeface="Calibri" pitchFamily="34" charset="-120"/>
              </a:rPr>
              <a:t>Principio de diseño: cada pestaña encapsula su propio formulario con validación y limpieza, mientras los helpers eliminan código duplicado y garantizan uniformidad visual entre módulos.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30"/>
          </a:solidFill>
          <a:ln/>
        </p:spPr>
      </p:sp>
      <p:sp>
        <p:nvSpPr>
          <p:cNvPr id="3" name="Shape 1"/>
          <p:cNvSpPr/>
          <p:nvPr/>
        </p:nvSpPr>
        <p:spPr>
          <a:xfrm>
            <a:off x="0" y="960120"/>
            <a:ext cx="9144000" cy="45720"/>
          </a:xfrm>
          <a:prstGeom prst="rect">
            <a:avLst/>
          </a:prstGeom>
          <a:solidFill>
            <a:srgbClr val="B8952A"/>
          </a:solidFill>
          <a:ln/>
        </p:spPr>
      </p:sp>
      <p:sp>
        <p:nvSpPr>
          <p:cNvPr id="4" name="Text 2"/>
          <p:cNvSpPr/>
          <p:nvPr/>
        </p:nvSpPr>
        <p:spPr>
          <a:xfrm>
            <a:off x="411480" y="118872"/>
            <a:ext cx="832104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Conclusiones y Aprendizajes</a:t>
            </a:r>
            <a:endParaRPr lang="en-US" sz="2200" dirty="0"/>
          </a:p>
        </p:txBody>
      </p:sp>
      <p:sp>
        <p:nvSpPr>
          <p:cNvPr id="5" name="Text 3"/>
          <p:cNvSpPr/>
          <p:nvPr/>
        </p:nvSpPr>
        <p:spPr>
          <a:xfrm>
            <a:off x="411480" y="658368"/>
            <a:ext cx="8229600" cy="256032"/>
          </a:xfrm>
          <a:prstGeom prst="rect">
            <a:avLst/>
          </a:prstGeom>
          <a:noFill/>
          <a:ln/>
        </p:spPr>
        <p:txBody>
          <a:bodyPr wrap="square" lIns="0" tIns="0" rIns="0" bIns="0" rtlCol="0" anchor="ctr"/>
          <a:lstStyle/>
          <a:p>
            <a:pPr marL="0" indent="0">
              <a:buNone/>
            </a:pPr>
            <a:r>
              <a:rPr lang="en-US" sz="1050" i="1" dirty="0">
                <a:solidFill>
                  <a:srgbClr val="D4AF37"/>
                </a:solidFill>
                <a:latin typeface="Calibri" pitchFamily="34" charset="0"/>
                <a:ea typeface="Calibri" pitchFamily="34" charset="-122"/>
                <a:cs typeface="Calibri" pitchFamily="34" charset="-120"/>
              </a:rPr>
              <a:t>María del Mar Tobón Higuita — LawFirm 2025</a:t>
            </a:r>
            <a:endParaRPr lang="en-US" sz="1050" dirty="0"/>
          </a:p>
        </p:txBody>
      </p:sp>
      <p:sp>
        <p:nvSpPr>
          <p:cNvPr id="6" name="Shape 4"/>
          <p:cNvSpPr/>
          <p:nvPr/>
        </p:nvSpPr>
        <p:spPr>
          <a:xfrm>
            <a:off x="365760" y="1115568"/>
            <a:ext cx="4023360" cy="1664208"/>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7" name="Shape 5"/>
          <p:cNvSpPr/>
          <p:nvPr/>
        </p:nvSpPr>
        <p:spPr>
          <a:xfrm>
            <a:off x="365760" y="1115568"/>
            <a:ext cx="73152" cy="1664208"/>
          </a:xfrm>
          <a:prstGeom prst="rect">
            <a:avLst/>
          </a:prstGeom>
          <a:solidFill>
            <a:srgbClr val="5C1A30"/>
          </a:solidFill>
          <a:ln/>
        </p:spPr>
      </p:sp>
      <p:sp>
        <p:nvSpPr>
          <p:cNvPr id="8" name="Text 6"/>
          <p:cNvSpPr/>
          <p:nvPr/>
        </p:nvSpPr>
        <p:spPr>
          <a:xfrm>
            <a:off x="566928" y="1207008"/>
            <a:ext cx="594360" cy="438912"/>
          </a:xfrm>
          <a:prstGeom prst="rect">
            <a:avLst/>
          </a:prstGeom>
          <a:noFill/>
          <a:ln/>
        </p:spPr>
        <p:txBody>
          <a:bodyPr wrap="square" lIns="0" tIns="0" rIns="0" bIns="0" rtlCol="0" anchor="ctr"/>
          <a:lstStyle/>
          <a:p>
            <a:pPr marL="0" indent="0">
              <a:buNone/>
            </a:pPr>
            <a:r>
              <a:rPr lang="en-US" sz="2400" b="1" dirty="0">
                <a:solidFill>
                  <a:srgbClr val="5C1A30"/>
                </a:solidFill>
                <a:latin typeface="Georgia" pitchFamily="34" charset="0"/>
                <a:ea typeface="Georgia" pitchFamily="34" charset="-122"/>
                <a:cs typeface="Georgia" pitchFamily="34" charset="-120"/>
              </a:rPr>
              <a:t>01</a:t>
            </a:r>
            <a:endParaRPr lang="en-US" sz="2400" dirty="0"/>
          </a:p>
        </p:txBody>
      </p:sp>
      <p:sp>
        <p:nvSpPr>
          <p:cNvPr id="9" name="Text 7"/>
          <p:cNvSpPr/>
          <p:nvPr/>
        </p:nvSpPr>
        <p:spPr>
          <a:xfrm>
            <a:off x="566928" y="1664208"/>
            <a:ext cx="3611880" cy="365760"/>
          </a:xfrm>
          <a:prstGeom prst="rect">
            <a:avLst/>
          </a:prstGeom>
          <a:noFill/>
          <a:ln/>
        </p:spPr>
        <p:txBody>
          <a:bodyPr wrap="square" lIns="0" tIns="0" rIns="0" bIns="0" rtlCol="0" anchor="ctr"/>
          <a:lstStyle/>
          <a:p>
            <a:pPr marL="0" indent="0">
              <a:buNone/>
            </a:pPr>
            <a:r>
              <a:rPr lang="en-US" sz="1100" b="1" dirty="0">
                <a:solidFill>
                  <a:srgbClr val="5C1A30"/>
                </a:solidFill>
                <a:latin typeface="Georgia" pitchFamily="34" charset="0"/>
                <a:ea typeface="Georgia" pitchFamily="34" charset="-122"/>
                <a:cs typeface="Georgia" pitchFamily="34" charset="-120"/>
              </a:rPr>
              <a:t>La modularidad es esencial en sistemas legales</a:t>
            </a:r>
            <a:endParaRPr lang="en-US" sz="1100" dirty="0"/>
          </a:p>
        </p:txBody>
      </p:sp>
      <p:sp>
        <p:nvSpPr>
          <p:cNvPr id="10" name="Text 8"/>
          <p:cNvSpPr/>
          <p:nvPr/>
        </p:nvSpPr>
        <p:spPr>
          <a:xfrm>
            <a:off x="566928" y="2029968"/>
            <a:ext cx="3611880" cy="694944"/>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Un bufete gestiona entidades muy distintas (casos, documentos, audiencias, facturas). Diseñar cada módulo de forma independiente facilita el mantenimiento, las pruebas y la incorporación futura de nuevas funciones sin afectar lo existente.</a:t>
            </a:r>
            <a:endParaRPr lang="en-US" sz="900" dirty="0"/>
          </a:p>
        </p:txBody>
      </p:sp>
      <p:sp>
        <p:nvSpPr>
          <p:cNvPr id="11" name="Shape 9"/>
          <p:cNvSpPr/>
          <p:nvPr/>
        </p:nvSpPr>
        <p:spPr>
          <a:xfrm>
            <a:off x="4754880" y="1115568"/>
            <a:ext cx="4023360" cy="1664208"/>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2" name="Shape 10"/>
          <p:cNvSpPr/>
          <p:nvPr/>
        </p:nvSpPr>
        <p:spPr>
          <a:xfrm>
            <a:off x="4754880" y="1115568"/>
            <a:ext cx="73152" cy="1664208"/>
          </a:xfrm>
          <a:prstGeom prst="rect">
            <a:avLst/>
          </a:prstGeom>
          <a:solidFill>
            <a:srgbClr val="B8952A"/>
          </a:solidFill>
          <a:ln/>
        </p:spPr>
      </p:sp>
      <p:sp>
        <p:nvSpPr>
          <p:cNvPr id="13" name="Text 11"/>
          <p:cNvSpPr/>
          <p:nvPr/>
        </p:nvSpPr>
        <p:spPr>
          <a:xfrm>
            <a:off x="4956048" y="1207008"/>
            <a:ext cx="594360" cy="438912"/>
          </a:xfrm>
          <a:prstGeom prst="rect">
            <a:avLst/>
          </a:prstGeom>
          <a:noFill/>
          <a:ln/>
        </p:spPr>
        <p:txBody>
          <a:bodyPr wrap="square" lIns="0" tIns="0" rIns="0" bIns="0" rtlCol="0" anchor="ctr"/>
          <a:lstStyle/>
          <a:p>
            <a:pPr marL="0" indent="0">
              <a:buNone/>
            </a:pPr>
            <a:r>
              <a:rPr lang="en-US" sz="2400" b="1" dirty="0">
                <a:solidFill>
                  <a:srgbClr val="B8952A"/>
                </a:solidFill>
                <a:latin typeface="Georgia" pitchFamily="34" charset="0"/>
                <a:ea typeface="Georgia" pitchFamily="34" charset="-122"/>
                <a:cs typeface="Georgia" pitchFamily="34" charset="-120"/>
              </a:rPr>
              <a:t>02</a:t>
            </a:r>
            <a:endParaRPr lang="en-US" sz="2400" dirty="0"/>
          </a:p>
        </p:txBody>
      </p:sp>
      <p:sp>
        <p:nvSpPr>
          <p:cNvPr id="14" name="Text 12"/>
          <p:cNvSpPr/>
          <p:nvPr/>
        </p:nvSpPr>
        <p:spPr>
          <a:xfrm>
            <a:off x="4956048" y="1664208"/>
            <a:ext cx="3611880" cy="365760"/>
          </a:xfrm>
          <a:prstGeom prst="rect">
            <a:avLst/>
          </a:prstGeom>
          <a:noFill/>
          <a:ln/>
        </p:spPr>
        <p:txBody>
          <a:bodyPr wrap="square" lIns="0" tIns="0" rIns="0" bIns="0" rtlCol="0" anchor="ctr"/>
          <a:lstStyle/>
          <a:p>
            <a:pPr marL="0" indent="0">
              <a:buNone/>
            </a:pPr>
            <a:r>
              <a:rPr lang="en-US" sz="1100" b="1" dirty="0">
                <a:solidFill>
                  <a:srgbClr val="5C1A30"/>
                </a:solidFill>
                <a:latin typeface="Georgia" pitchFamily="34" charset="0"/>
                <a:ea typeface="Georgia" pitchFamily="34" charset="-122"/>
                <a:cs typeface="Georgia" pitchFamily="34" charset="-120"/>
              </a:rPr>
              <a:t>Tkinter permite interfaces profesionales sin dependencias</a:t>
            </a:r>
            <a:endParaRPr lang="en-US" sz="1100" dirty="0"/>
          </a:p>
        </p:txBody>
      </p:sp>
      <p:sp>
        <p:nvSpPr>
          <p:cNvPr id="15" name="Text 13"/>
          <p:cNvSpPr/>
          <p:nvPr/>
        </p:nvSpPr>
        <p:spPr>
          <a:xfrm>
            <a:off x="4956048" y="2029968"/>
            <a:ext cx="3611880" cy="694944"/>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El uso de ttk.Style, Canvas con scroll y la separación en helpers permitió crear formularios complejos con una librería estándar. Esto garantiza portabilidad total del sistema en cualquier entorno con Python instalado.</a:t>
            </a:r>
            <a:endParaRPr lang="en-US" sz="900" dirty="0"/>
          </a:p>
        </p:txBody>
      </p:sp>
      <p:sp>
        <p:nvSpPr>
          <p:cNvPr id="16" name="Shape 14"/>
          <p:cNvSpPr/>
          <p:nvPr/>
        </p:nvSpPr>
        <p:spPr>
          <a:xfrm>
            <a:off x="365760" y="2990088"/>
            <a:ext cx="4023360" cy="1664208"/>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17" name="Shape 15"/>
          <p:cNvSpPr/>
          <p:nvPr/>
        </p:nvSpPr>
        <p:spPr>
          <a:xfrm>
            <a:off x="365760" y="2990088"/>
            <a:ext cx="73152" cy="1664208"/>
          </a:xfrm>
          <a:prstGeom prst="rect">
            <a:avLst/>
          </a:prstGeom>
          <a:solidFill>
            <a:srgbClr val="8B2942"/>
          </a:solidFill>
          <a:ln/>
        </p:spPr>
      </p:sp>
      <p:sp>
        <p:nvSpPr>
          <p:cNvPr id="18" name="Text 16"/>
          <p:cNvSpPr/>
          <p:nvPr/>
        </p:nvSpPr>
        <p:spPr>
          <a:xfrm>
            <a:off x="566928" y="3081528"/>
            <a:ext cx="594360" cy="438912"/>
          </a:xfrm>
          <a:prstGeom prst="rect">
            <a:avLst/>
          </a:prstGeom>
          <a:noFill/>
          <a:ln/>
        </p:spPr>
        <p:txBody>
          <a:bodyPr wrap="square" lIns="0" tIns="0" rIns="0" bIns="0" rtlCol="0" anchor="ctr"/>
          <a:lstStyle/>
          <a:p>
            <a:pPr marL="0" indent="0">
              <a:buNone/>
            </a:pPr>
            <a:r>
              <a:rPr lang="en-US" sz="2400" b="1" dirty="0">
                <a:solidFill>
                  <a:srgbClr val="8B2942"/>
                </a:solidFill>
                <a:latin typeface="Georgia" pitchFamily="34" charset="0"/>
                <a:ea typeface="Georgia" pitchFamily="34" charset="-122"/>
                <a:cs typeface="Georgia" pitchFamily="34" charset="-120"/>
              </a:rPr>
              <a:t>03</a:t>
            </a:r>
            <a:endParaRPr lang="en-US" sz="2400" dirty="0"/>
          </a:p>
        </p:txBody>
      </p:sp>
      <p:sp>
        <p:nvSpPr>
          <p:cNvPr id="19" name="Text 17"/>
          <p:cNvSpPr/>
          <p:nvPr/>
        </p:nvSpPr>
        <p:spPr>
          <a:xfrm>
            <a:off x="566928" y="3538728"/>
            <a:ext cx="3611880" cy="365760"/>
          </a:xfrm>
          <a:prstGeom prst="rect">
            <a:avLst/>
          </a:prstGeom>
          <a:noFill/>
          <a:ln/>
        </p:spPr>
        <p:txBody>
          <a:bodyPr wrap="square" lIns="0" tIns="0" rIns="0" bIns="0" rtlCol="0" anchor="ctr"/>
          <a:lstStyle/>
          <a:p>
            <a:pPr marL="0" indent="0">
              <a:buNone/>
            </a:pPr>
            <a:r>
              <a:rPr lang="en-US" sz="1100" b="1" dirty="0">
                <a:solidFill>
                  <a:srgbClr val="5C1A30"/>
                </a:solidFill>
                <a:latin typeface="Georgia" pitchFamily="34" charset="0"/>
                <a:ea typeface="Georgia" pitchFamily="34" charset="-122"/>
                <a:cs typeface="Georgia" pitchFamily="34" charset="-120"/>
              </a:rPr>
              <a:t>La confidencialidad debe estar en el diseño</a:t>
            </a:r>
            <a:endParaRPr lang="en-US" sz="1100" dirty="0"/>
          </a:p>
        </p:txBody>
      </p:sp>
      <p:sp>
        <p:nvSpPr>
          <p:cNvPr id="20" name="Text 18"/>
          <p:cNvSpPr/>
          <p:nvPr/>
        </p:nvSpPr>
        <p:spPr>
          <a:xfrm>
            <a:off x="566928" y="3904488"/>
            <a:ext cx="3611880" cy="694944"/>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El análisis del sistema evidenció que los datos legales requieren niveles de acceso diferenciado. Aunque Tkinter no implementa seguridad nativa, el diseño de los módulos sienta la arquitectura correcta para añadirla en capas posteriores.</a:t>
            </a:r>
            <a:endParaRPr lang="en-US" sz="900" dirty="0"/>
          </a:p>
        </p:txBody>
      </p:sp>
      <p:sp>
        <p:nvSpPr>
          <p:cNvPr id="21" name="Shape 19"/>
          <p:cNvSpPr/>
          <p:nvPr/>
        </p:nvSpPr>
        <p:spPr>
          <a:xfrm>
            <a:off x="4754880" y="2990088"/>
            <a:ext cx="4023360" cy="1664208"/>
          </a:xfrm>
          <a:prstGeom prst="rect">
            <a:avLst/>
          </a:prstGeom>
          <a:solidFill>
            <a:srgbClr val="FFFFFF"/>
          </a:solidFill>
          <a:ln w="6350">
            <a:solidFill>
              <a:srgbClr val="E0D6CA"/>
            </a:solidFill>
            <a:prstDash val="solid"/>
          </a:ln>
          <a:effectLst>
            <a:outerShdw blurRad="88900" dist="38100" dir="8100000" algn="bl" rotWithShape="0">
              <a:srgbClr val="000000">
                <a:alpha val="14000"/>
              </a:srgbClr>
            </a:outerShdw>
          </a:effectLst>
        </p:spPr>
      </p:sp>
      <p:sp>
        <p:nvSpPr>
          <p:cNvPr id="22" name="Shape 20"/>
          <p:cNvSpPr/>
          <p:nvPr/>
        </p:nvSpPr>
        <p:spPr>
          <a:xfrm>
            <a:off x="4754880" y="2990088"/>
            <a:ext cx="73152" cy="1664208"/>
          </a:xfrm>
          <a:prstGeom prst="rect">
            <a:avLst/>
          </a:prstGeom>
          <a:solidFill>
            <a:srgbClr val="2C2016"/>
          </a:solidFill>
          <a:ln/>
        </p:spPr>
      </p:sp>
      <p:sp>
        <p:nvSpPr>
          <p:cNvPr id="23" name="Text 21"/>
          <p:cNvSpPr/>
          <p:nvPr/>
        </p:nvSpPr>
        <p:spPr>
          <a:xfrm>
            <a:off x="4956048" y="3081528"/>
            <a:ext cx="594360" cy="438912"/>
          </a:xfrm>
          <a:prstGeom prst="rect">
            <a:avLst/>
          </a:prstGeom>
          <a:noFill/>
          <a:ln/>
        </p:spPr>
        <p:txBody>
          <a:bodyPr wrap="square" lIns="0" tIns="0" rIns="0" bIns="0" rtlCol="0" anchor="ctr"/>
          <a:lstStyle/>
          <a:p>
            <a:pPr marL="0" indent="0">
              <a:buNone/>
            </a:pPr>
            <a:r>
              <a:rPr lang="en-US" sz="2400" b="1" dirty="0">
                <a:solidFill>
                  <a:srgbClr val="2C2016"/>
                </a:solidFill>
                <a:latin typeface="Georgia" pitchFamily="34" charset="0"/>
                <a:ea typeface="Georgia" pitchFamily="34" charset="-122"/>
                <a:cs typeface="Georgia" pitchFamily="34" charset="-120"/>
              </a:rPr>
              <a:t>04</a:t>
            </a:r>
            <a:endParaRPr lang="en-US" sz="2400" dirty="0"/>
          </a:p>
        </p:txBody>
      </p:sp>
      <p:sp>
        <p:nvSpPr>
          <p:cNvPr id="24" name="Text 22"/>
          <p:cNvSpPr/>
          <p:nvPr/>
        </p:nvSpPr>
        <p:spPr>
          <a:xfrm>
            <a:off x="4956048" y="3538728"/>
            <a:ext cx="3611880" cy="365760"/>
          </a:xfrm>
          <a:prstGeom prst="rect">
            <a:avLst/>
          </a:prstGeom>
          <a:noFill/>
          <a:ln/>
        </p:spPr>
        <p:txBody>
          <a:bodyPr wrap="square" lIns="0" tIns="0" rIns="0" bIns="0" rtlCol="0" anchor="ctr"/>
          <a:lstStyle/>
          <a:p>
            <a:pPr marL="0" indent="0">
              <a:buNone/>
            </a:pPr>
            <a:r>
              <a:rPr lang="en-US" sz="1100" b="1" dirty="0">
                <a:solidFill>
                  <a:srgbClr val="5C1A30"/>
                </a:solidFill>
                <a:latin typeface="Georgia" pitchFamily="34" charset="0"/>
                <a:ea typeface="Georgia" pitchFamily="34" charset="-122"/>
                <a:cs typeface="Georgia" pitchFamily="34" charset="-120"/>
              </a:rPr>
              <a:t>Base para un sistema legal de producción</a:t>
            </a:r>
            <a:endParaRPr lang="en-US" sz="1100" dirty="0"/>
          </a:p>
        </p:txBody>
      </p:sp>
      <p:sp>
        <p:nvSpPr>
          <p:cNvPr id="25" name="Text 23"/>
          <p:cNvSpPr/>
          <p:nvPr/>
        </p:nvSpPr>
        <p:spPr>
          <a:xfrm>
            <a:off x="4956048" y="3904488"/>
            <a:ext cx="3611880" cy="694944"/>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La arquitectura modular facilita integrar persistencia SQLite/PostgreSQL, generación de PDF de contratos y facturas, notificaciones de vencimiento de plazos y un módulo de calendario jurídico en etapas futuras del proyecto.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2016"/>
        </a:solidFill>
        <a:effectLst/>
      </p:bgPr>
    </p:bg>
    <p:spTree>
      <p:nvGrpSpPr>
        <p:cNvPr id="1" name=""/>
        <p:cNvGrpSpPr/>
        <p:nvPr/>
      </p:nvGrpSpPr>
      <p:grpSpPr>
        <a:xfrm>
          <a:off x="0" y="0"/>
          <a:ext cx="0" cy="0"/>
          <a:chOff x="0" y="0"/>
          <a:chExt cx="0" cy="0"/>
        </a:xfrm>
      </p:grpSpPr>
      <p:sp>
        <p:nvSpPr>
          <p:cNvPr id="2" name="Shape 0"/>
          <p:cNvSpPr/>
          <p:nvPr/>
        </p:nvSpPr>
        <p:spPr>
          <a:xfrm>
            <a:off x="0" y="0"/>
            <a:ext cx="5943600" cy="5143500"/>
          </a:xfrm>
          <a:prstGeom prst="rect">
            <a:avLst/>
          </a:prstGeom>
          <a:solidFill>
            <a:srgbClr val="5C1A30"/>
          </a:solidFill>
          <a:ln/>
        </p:spPr>
      </p:sp>
      <p:sp>
        <p:nvSpPr>
          <p:cNvPr id="3" name="Shape 1"/>
          <p:cNvSpPr/>
          <p:nvPr/>
        </p:nvSpPr>
        <p:spPr>
          <a:xfrm>
            <a:off x="0" y="0"/>
            <a:ext cx="5943600" cy="64008"/>
          </a:xfrm>
          <a:prstGeom prst="rect">
            <a:avLst/>
          </a:prstGeom>
          <a:solidFill>
            <a:srgbClr val="B8952A"/>
          </a:solidFill>
          <a:ln/>
        </p:spPr>
      </p:sp>
      <p:sp>
        <p:nvSpPr>
          <p:cNvPr id="4" name="Shape 2"/>
          <p:cNvSpPr/>
          <p:nvPr/>
        </p:nvSpPr>
        <p:spPr>
          <a:xfrm>
            <a:off x="5943600" y="0"/>
            <a:ext cx="54864" cy="5143500"/>
          </a:xfrm>
          <a:prstGeom prst="rect">
            <a:avLst/>
          </a:prstGeom>
          <a:solidFill>
            <a:srgbClr val="B8952A"/>
          </a:solidFill>
          <a:ln/>
        </p:spPr>
      </p:sp>
      <p:sp>
        <p:nvSpPr>
          <p:cNvPr id="5" name="Shape 3"/>
          <p:cNvSpPr/>
          <p:nvPr/>
        </p:nvSpPr>
        <p:spPr>
          <a:xfrm>
            <a:off x="8046720" y="274320"/>
            <a:ext cx="1371600" cy="1371600"/>
          </a:xfrm>
          <a:prstGeom prst="ellipse">
            <a:avLst/>
          </a:prstGeom>
          <a:solidFill>
            <a:srgbClr val="8B2942">
              <a:alpha val="28000"/>
            </a:srgbClr>
          </a:solidFill>
          <a:ln w="12700">
            <a:solidFill>
              <a:srgbClr val="B8952A"/>
            </a:solidFill>
            <a:prstDash val="solid"/>
          </a:ln>
        </p:spPr>
      </p:sp>
      <p:sp>
        <p:nvSpPr>
          <p:cNvPr id="6" name="Text 4"/>
          <p:cNvSpPr/>
          <p:nvPr/>
        </p:nvSpPr>
        <p:spPr>
          <a:xfrm>
            <a:off x="548640" y="594360"/>
            <a:ext cx="731520" cy="640080"/>
          </a:xfrm>
          <a:prstGeom prst="rect">
            <a:avLst/>
          </a:prstGeom>
          <a:noFill/>
          <a:ln/>
        </p:spPr>
        <p:txBody>
          <a:bodyPr wrap="square" lIns="0" tIns="0" rIns="0" bIns="0" rtlCol="0" anchor="ctr"/>
          <a:lstStyle/>
          <a:p>
            <a:pPr marL="0" indent="0">
              <a:buNone/>
            </a:pPr>
            <a:r>
              <a:rPr lang="en-US" sz="3000" dirty="0">
                <a:solidFill>
                  <a:srgbClr val="000000"/>
                </a:solidFill>
              </a:rPr>
              <a:t>⚖️</a:t>
            </a:r>
            <a:endParaRPr lang="en-US" sz="3000" dirty="0"/>
          </a:p>
        </p:txBody>
      </p:sp>
      <p:sp>
        <p:nvSpPr>
          <p:cNvPr id="7" name="Text 5"/>
          <p:cNvSpPr/>
          <p:nvPr/>
        </p:nvSpPr>
        <p:spPr>
          <a:xfrm>
            <a:off x="548640" y="1234440"/>
            <a:ext cx="5212080" cy="914400"/>
          </a:xfrm>
          <a:prstGeom prst="rect">
            <a:avLst/>
          </a:prstGeom>
          <a:noFill/>
          <a:ln/>
        </p:spPr>
        <p:txBody>
          <a:bodyPr wrap="square" lIns="0" tIns="0" rIns="0" bIns="0"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¡Gracias!</a:t>
            </a:r>
            <a:endParaRPr lang="en-US" sz="5200" dirty="0"/>
          </a:p>
        </p:txBody>
      </p:sp>
      <p:sp>
        <p:nvSpPr>
          <p:cNvPr id="8" name="Text 6"/>
          <p:cNvSpPr/>
          <p:nvPr/>
        </p:nvSpPr>
        <p:spPr>
          <a:xfrm>
            <a:off x="548640" y="2240280"/>
            <a:ext cx="5212080" cy="411480"/>
          </a:xfrm>
          <a:prstGeom prst="rect">
            <a:avLst/>
          </a:prstGeom>
          <a:noFill/>
          <a:ln/>
        </p:spPr>
        <p:txBody>
          <a:bodyPr wrap="square" rtlCol="0" anchor="ctr"/>
          <a:lstStyle/>
          <a:p>
            <a:pPr marL="0" indent="0">
              <a:buNone/>
            </a:pPr>
            <a:r>
              <a:rPr lang="en-US" sz="1400" i="1" dirty="0">
                <a:solidFill>
                  <a:srgbClr val="D4AF37"/>
                </a:solidFill>
                <a:latin typeface="Calibri" pitchFamily="34" charset="0"/>
                <a:ea typeface="Calibri" pitchFamily="34" charset="-122"/>
                <a:cs typeface="Calibri" pitchFamily="34" charset="-120"/>
              </a:rPr>
              <a:t>LawFirm — Justicia &amp; Asociados</a:t>
            </a:r>
            <a:endParaRPr lang="en-US" sz="1400" dirty="0"/>
          </a:p>
        </p:txBody>
      </p:sp>
      <p:sp>
        <p:nvSpPr>
          <p:cNvPr id="9" name="Shape 7"/>
          <p:cNvSpPr/>
          <p:nvPr/>
        </p:nvSpPr>
        <p:spPr>
          <a:xfrm>
            <a:off x="548640" y="2788920"/>
            <a:ext cx="3474720" cy="45720"/>
          </a:xfrm>
          <a:prstGeom prst="rect">
            <a:avLst/>
          </a:prstGeom>
          <a:solidFill>
            <a:srgbClr val="B8952A"/>
          </a:solidFill>
          <a:ln/>
        </p:spPr>
      </p:sp>
      <p:sp>
        <p:nvSpPr>
          <p:cNvPr id="10" name="Text 8"/>
          <p:cNvSpPr/>
          <p:nvPr/>
        </p:nvSpPr>
        <p:spPr>
          <a:xfrm>
            <a:off x="548640" y="2926080"/>
            <a:ext cx="5212080" cy="347472"/>
          </a:xfrm>
          <a:prstGeom prst="rect">
            <a:avLst/>
          </a:prstGeom>
          <a:noFill/>
          <a:ln/>
        </p:spPr>
        <p:txBody>
          <a:bodyPr wrap="square" rtlCol="0" anchor="ctr"/>
          <a:lstStyle/>
          <a:p>
            <a:pPr marL="0" indent="0">
              <a:buNone/>
            </a:pPr>
            <a:r>
              <a:rPr lang="en-US" sz="1300" dirty="0">
                <a:solidFill>
                  <a:srgbClr val="9E8E7E"/>
                </a:solidFill>
                <a:latin typeface="Calibri" pitchFamily="34" charset="0"/>
                <a:ea typeface="Calibri" pitchFamily="34" charset="-122"/>
                <a:cs typeface="Calibri" pitchFamily="34" charset="-120"/>
              </a:rPr>
              <a:t>María del Mar Tobón Higuita  ·  2025</a:t>
            </a:r>
            <a:endParaRPr lang="en-US" sz="1300" dirty="0"/>
          </a:p>
        </p:txBody>
      </p:sp>
      <p:sp>
        <p:nvSpPr>
          <p:cNvPr id="11" name="Text 9"/>
          <p:cNvSpPr/>
          <p:nvPr/>
        </p:nvSpPr>
        <p:spPr>
          <a:xfrm>
            <a:off x="6217920" y="822960"/>
            <a:ext cx="2743200" cy="301752"/>
          </a:xfrm>
          <a:prstGeom prst="rect">
            <a:avLst/>
          </a:prstGeom>
          <a:noFill/>
          <a:ln/>
        </p:spPr>
        <p:txBody>
          <a:bodyPr wrap="square" lIns="0" tIns="0" rIns="0" bIns="0" rtlCol="0" anchor="ctr"/>
          <a:lstStyle/>
          <a:p>
            <a:pPr marL="0" indent="0">
              <a:buNone/>
            </a:pPr>
            <a:r>
              <a:rPr lang="en-US" sz="1100" b="1" dirty="0">
                <a:solidFill>
                  <a:srgbClr val="D4AF37"/>
                </a:solidFill>
                <a:latin typeface="Georgia" pitchFamily="34" charset="0"/>
                <a:ea typeface="Georgia" pitchFamily="34" charset="-122"/>
                <a:cs typeface="Georgia" pitchFamily="34" charset="-120"/>
              </a:rPr>
              <a:t>Resumen del Proyecto</a:t>
            </a:r>
            <a:endParaRPr lang="en-US" sz="1100" dirty="0"/>
          </a:p>
        </p:txBody>
      </p:sp>
      <p:sp>
        <p:nvSpPr>
          <p:cNvPr id="12" name="Shape 10"/>
          <p:cNvSpPr/>
          <p:nvPr/>
        </p:nvSpPr>
        <p:spPr>
          <a:xfrm>
            <a:off x="6263640" y="1261872"/>
            <a:ext cx="164592" cy="164592"/>
          </a:xfrm>
          <a:prstGeom prst="ellipse">
            <a:avLst/>
          </a:prstGeom>
          <a:solidFill>
            <a:srgbClr val="B8952A"/>
          </a:solidFill>
          <a:ln/>
        </p:spPr>
      </p:sp>
      <p:sp>
        <p:nvSpPr>
          <p:cNvPr id="13" name="Text 11"/>
          <p:cNvSpPr/>
          <p:nvPr/>
        </p:nvSpPr>
        <p:spPr>
          <a:xfrm>
            <a:off x="6510528" y="1234440"/>
            <a:ext cx="242316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10 módulos integrados</a:t>
            </a:r>
            <a:endParaRPr lang="en-US" sz="1050" dirty="0"/>
          </a:p>
        </p:txBody>
      </p:sp>
      <p:sp>
        <p:nvSpPr>
          <p:cNvPr id="14" name="Shape 12"/>
          <p:cNvSpPr/>
          <p:nvPr/>
        </p:nvSpPr>
        <p:spPr>
          <a:xfrm>
            <a:off x="6263640" y="1737360"/>
            <a:ext cx="164592" cy="164592"/>
          </a:xfrm>
          <a:prstGeom prst="ellipse">
            <a:avLst/>
          </a:prstGeom>
          <a:solidFill>
            <a:srgbClr val="B8952A"/>
          </a:solidFill>
          <a:ln/>
        </p:spPr>
      </p:sp>
      <p:sp>
        <p:nvSpPr>
          <p:cNvPr id="15" name="Text 13"/>
          <p:cNvSpPr/>
          <p:nvPr/>
        </p:nvSpPr>
        <p:spPr>
          <a:xfrm>
            <a:off x="6510528" y="1709928"/>
            <a:ext cx="242316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 pestañas de navegación</a:t>
            </a:r>
            <a:endParaRPr lang="en-US" sz="1050" dirty="0"/>
          </a:p>
        </p:txBody>
      </p:sp>
      <p:sp>
        <p:nvSpPr>
          <p:cNvPr id="16" name="Shape 14"/>
          <p:cNvSpPr/>
          <p:nvPr/>
        </p:nvSpPr>
        <p:spPr>
          <a:xfrm>
            <a:off x="6263640" y="2212848"/>
            <a:ext cx="164592" cy="164592"/>
          </a:xfrm>
          <a:prstGeom prst="ellipse">
            <a:avLst/>
          </a:prstGeom>
          <a:solidFill>
            <a:srgbClr val="B8952A"/>
          </a:solidFill>
          <a:ln/>
        </p:spPr>
      </p:sp>
      <p:sp>
        <p:nvSpPr>
          <p:cNvPr id="17" name="Text 15"/>
          <p:cNvSpPr/>
          <p:nvPr/>
        </p:nvSpPr>
        <p:spPr>
          <a:xfrm>
            <a:off x="6510528" y="2185416"/>
            <a:ext cx="242316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Python + Tkinter + ttk</a:t>
            </a:r>
            <a:endParaRPr lang="en-US" sz="1050" dirty="0"/>
          </a:p>
        </p:txBody>
      </p:sp>
      <p:sp>
        <p:nvSpPr>
          <p:cNvPr id="18" name="Shape 16"/>
          <p:cNvSpPr/>
          <p:nvPr/>
        </p:nvSpPr>
        <p:spPr>
          <a:xfrm>
            <a:off x="6263640" y="2688336"/>
            <a:ext cx="164592" cy="164592"/>
          </a:xfrm>
          <a:prstGeom prst="ellipse">
            <a:avLst/>
          </a:prstGeom>
          <a:solidFill>
            <a:srgbClr val="B8952A"/>
          </a:solidFill>
          <a:ln/>
        </p:spPr>
      </p:sp>
      <p:sp>
        <p:nvSpPr>
          <p:cNvPr id="19" name="Text 17"/>
          <p:cNvSpPr/>
          <p:nvPr/>
        </p:nvSpPr>
        <p:spPr>
          <a:xfrm>
            <a:off x="6510528" y="2660904"/>
            <a:ext cx="242316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Helpers reutilizables</a:t>
            </a:r>
            <a:endParaRPr lang="en-US" sz="1050" dirty="0"/>
          </a:p>
        </p:txBody>
      </p:sp>
      <p:sp>
        <p:nvSpPr>
          <p:cNvPr id="20" name="Shape 18"/>
          <p:cNvSpPr/>
          <p:nvPr/>
        </p:nvSpPr>
        <p:spPr>
          <a:xfrm>
            <a:off x="6263640" y="3163824"/>
            <a:ext cx="164592" cy="164592"/>
          </a:xfrm>
          <a:prstGeom prst="ellipse">
            <a:avLst/>
          </a:prstGeom>
          <a:solidFill>
            <a:srgbClr val="B8952A"/>
          </a:solidFill>
          <a:ln/>
        </p:spPr>
      </p:sp>
      <p:sp>
        <p:nvSpPr>
          <p:cNvPr id="21" name="Text 19"/>
          <p:cNvSpPr/>
          <p:nvPr/>
        </p:nvSpPr>
        <p:spPr>
          <a:xfrm>
            <a:off x="6510528" y="3136392"/>
            <a:ext cx="242316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Interfaz con scroll</a:t>
            </a:r>
            <a:endParaRPr lang="en-US" sz="1050" dirty="0"/>
          </a:p>
        </p:txBody>
      </p:sp>
      <p:sp>
        <p:nvSpPr>
          <p:cNvPr id="22" name="Shape 20"/>
          <p:cNvSpPr/>
          <p:nvPr/>
        </p:nvSpPr>
        <p:spPr>
          <a:xfrm>
            <a:off x="6263640" y="3639312"/>
            <a:ext cx="164592" cy="164592"/>
          </a:xfrm>
          <a:prstGeom prst="ellipse">
            <a:avLst/>
          </a:prstGeom>
          <a:solidFill>
            <a:srgbClr val="B8952A"/>
          </a:solidFill>
          <a:ln/>
        </p:spPr>
      </p:sp>
      <p:sp>
        <p:nvSpPr>
          <p:cNvPr id="23" name="Text 21"/>
          <p:cNvSpPr/>
          <p:nvPr/>
        </p:nvSpPr>
        <p:spPr>
          <a:xfrm>
            <a:off x="6510528" y="3611880"/>
            <a:ext cx="242316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Confidencialidad por diseño</a:t>
            </a:r>
            <a:endParaRPr lang="en-US" sz="1050" dirty="0"/>
          </a:p>
        </p:txBody>
      </p:sp>
      <p:sp>
        <p:nvSpPr>
          <p:cNvPr id="24" name="Shape 22"/>
          <p:cNvSpPr/>
          <p:nvPr/>
        </p:nvSpPr>
        <p:spPr>
          <a:xfrm>
            <a:off x="548640" y="4590288"/>
            <a:ext cx="1316736" cy="320040"/>
          </a:xfrm>
          <a:prstGeom prst="rect">
            <a:avLst/>
          </a:prstGeom>
          <a:solidFill>
            <a:srgbClr val="8B2942">
              <a:alpha val="65000"/>
            </a:srgbClr>
          </a:solidFill>
          <a:ln w="6350">
            <a:solidFill>
              <a:srgbClr val="B8952A"/>
            </a:solidFill>
            <a:prstDash val="solid"/>
          </a:ln>
        </p:spPr>
      </p:sp>
      <p:sp>
        <p:nvSpPr>
          <p:cNvPr id="25" name="Text 23"/>
          <p:cNvSpPr/>
          <p:nvPr/>
        </p:nvSpPr>
        <p:spPr>
          <a:xfrm>
            <a:off x="548640" y="4590288"/>
            <a:ext cx="1316736" cy="32004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Python 3</a:t>
            </a:r>
            <a:endParaRPr lang="en-US" sz="950" dirty="0"/>
          </a:p>
        </p:txBody>
      </p:sp>
      <p:sp>
        <p:nvSpPr>
          <p:cNvPr id="26" name="Shape 24"/>
          <p:cNvSpPr/>
          <p:nvPr/>
        </p:nvSpPr>
        <p:spPr>
          <a:xfrm>
            <a:off x="1993392" y="4590288"/>
            <a:ext cx="1316736" cy="320040"/>
          </a:xfrm>
          <a:prstGeom prst="rect">
            <a:avLst/>
          </a:prstGeom>
          <a:solidFill>
            <a:srgbClr val="8B2942">
              <a:alpha val="65000"/>
            </a:srgbClr>
          </a:solidFill>
          <a:ln w="6350">
            <a:solidFill>
              <a:srgbClr val="B8952A"/>
            </a:solidFill>
            <a:prstDash val="solid"/>
          </a:ln>
        </p:spPr>
      </p:sp>
      <p:sp>
        <p:nvSpPr>
          <p:cNvPr id="27" name="Text 25"/>
          <p:cNvSpPr/>
          <p:nvPr/>
        </p:nvSpPr>
        <p:spPr>
          <a:xfrm>
            <a:off x="1993392" y="4590288"/>
            <a:ext cx="1316736" cy="32004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Tkinter</a:t>
            </a:r>
            <a:endParaRPr lang="en-US" sz="950" dirty="0"/>
          </a:p>
        </p:txBody>
      </p:sp>
      <p:sp>
        <p:nvSpPr>
          <p:cNvPr id="28" name="Shape 26"/>
          <p:cNvSpPr/>
          <p:nvPr/>
        </p:nvSpPr>
        <p:spPr>
          <a:xfrm>
            <a:off x="3438144" y="4590288"/>
            <a:ext cx="1316736" cy="320040"/>
          </a:xfrm>
          <a:prstGeom prst="rect">
            <a:avLst/>
          </a:prstGeom>
          <a:solidFill>
            <a:srgbClr val="8B2942">
              <a:alpha val="65000"/>
            </a:srgbClr>
          </a:solidFill>
          <a:ln w="6350">
            <a:solidFill>
              <a:srgbClr val="B8952A"/>
            </a:solidFill>
            <a:prstDash val="solid"/>
          </a:ln>
        </p:spPr>
      </p:sp>
      <p:sp>
        <p:nvSpPr>
          <p:cNvPr id="29" name="Text 27"/>
          <p:cNvSpPr/>
          <p:nvPr/>
        </p:nvSpPr>
        <p:spPr>
          <a:xfrm>
            <a:off x="3438144" y="4590288"/>
            <a:ext cx="1316736" cy="32004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ttk</a:t>
            </a:r>
            <a:endParaRPr lang="en-US" sz="950" dirty="0"/>
          </a:p>
        </p:txBody>
      </p:sp>
      <p:sp>
        <p:nvSpPr>
          <p:cNvPr id="30" name="Shape 28"/>
          <p:cNvSpPr/>
          <p:nvPr/>
        </p:nvSpPr>
        <p:spPr>
          <a:xfrm>
            <a:off x="4882896" y="4590288"/>
            <a:ext cx="1316736" cy="320040"/>
          </a:xfrm>
          <a:prstGeom prst="rect">
            <a:avLst/>
          </a:prstGeom>
          <a:solidFill>
            <a:srgbClr val="8B2942">
              <a:alpha val="65000"/>
            </a:srgbClr>
          </a:solidFill>
          <a:ln w="6350">
            <a:solidFill>
              <a:srgbClr val="B8952A"/>
            </a:solidFill>
            <a:prstDash val="solid"/>
          </a:ln>
        </p:spPr>
      </p:sp>
      <p:sp>
        <p:nvSpPr>
          <p:cNvPr id="31" name="Text 29"/>
          <p:cNvSpPr/>
          <p:nvPr/>
        </p:nvSpPr>
        <p:spPr>
          <a:xfrm>
            <a:off x="4882896" y="4590288"/>
            <a:ext cx="1316736" cy="32004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OOP</a:t>
            </a:r>
            <a:endParaRPr lang="en-US" sz="950" dirty="0"/>
          </a:p>
        </p:txBody>
      </p:sp>
      <p:sp>
        <p:nvSpPr>
          <p:cNvPr id="32" name="Shape 30"/>
          <p:cNvSpPr/>
          <p:nvPr/>
        </p:nvSpPr>
        <p:spPr>
          <a:xfrm>
            <a:off x="6327648" y="4590288"/>
            <a:ext cx="1316736" cy="320040"/>
          </a:xfrm>
          <a:prstGeom prst="rect">
            <a:avLst/>
          </a:prstGeom>
          <a:solidFill>
            <a:srgbClr val="8B2942">
              <a:alpha val="65000"/>
            </a:srgbClr>
          </a:solidFill>
          <a:ln w="6350">
            <a:solidFill>
              <a:srgbClr val="B8952A"/>
            </a:solidFill>
            <a:prstDash val="solid"/>
          </a:ln>
        </p:spPr>
      </p:sp>
      <p:sp>
        <p:nvSpPr>
          <p:cNvPr id="33" name="Text 31"/>
          <p:cNvSpPr/>
          <p:nvPr/>
        </p:nvSpPr>
        <p:spPr>
          <a:xfrm>
            <a:off x="6327648" y="4590288"/>
            <a:ext cx="1316736" cy="32004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Modular</a:t>
            </a:r>
            <a:endParaRPr lang="en-US" sz="950" dirty="0"/>
          </a:p>
        </p:txBody>
      </p:sp>
      <p:sp>
        <p:nvSpPr>
          <p:cNvPr id="34" name="Shape 32"/>
          <p:cNvSpPr/>
          <p:nvPr/>
        </p:nvSpPr>
        <p:spPr>
          <a:xfrm>
            <a:off x="7772400" y="4590288"/>
            <a:ext cx="1316736" cy="320040"/>
          </a:xfrm>
          <a:prstGeom prst="rect">
            <a:avLst/>
          </a:prstGeom>
          <a:solidFill>
            <a:srgbClr val="8B2942">
              <a:alpha val="65000"/>
            </a:srgbClr>
          </a:solidFill>
          <a:ln w="6350">
            <a:solidFill>
              <a:srgbClr val="B8952A"/>
            </a:solidFill>
            <a:prstDash val="solid"/>
          </a:ln>
        </p:spPr>
      </p:sp>
      <p:sp>
        <p:nvSpPr>
          <p:cNvPr id="35" name="Text 33"/>
          <p:cNvSpPr/>
          <p:nvPr/>
        </p:nvSpPr>
        <p:spPr>
          <a:xfrm>
            <a:off x="7772400" y="4590288"/>
            <a:ext cx="1316736" cy="32004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2025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957</Words>
  <Application>Microsoft Office PowerPoint</Application>
  <PresentationFormat>Presentación en pantalla (16:9)</PresentationFormat>
  <Paragraphs>165</Paragraphs>
  <Slides>9</Slides>
  <Notes>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LawFirm – Sistema de Gestión para Servicios Legales</dc:title>
  <dc:subject>PptxGenJS Presentation</dc:subject>
  <dc:creator>María del Mar Tobón Higuita</dc:creator>
  <cp:lastModifiedBy>Mariadelmar  Tobon Higuita</cp:lastModifiedBy>
  <cp:revision>2</cp:revision>
  <dcterms:created xsi:type="dcterms:W3CDTF">2026-03-08T05:27:05Z</dcterms:created>
  <dcterms:modified xsi:type="dcterms:W3CDTF">2026-03-08T05:41:49Z</dcterms:modified>
</cp:coreProperties>
</file>